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79" r:id="rId2"/>
    <p:sldId id="374" r:id="rId3"/>
    <p:sldId id="359" r:id="rId4"/>
    <p:sldId id="376" r:id="rId5"/>
    <p:sldId id="339" r:id="rId6"/>
    <p:sldId id="371" r:id="rId7"/>
    <p:sldId id="329" r:id="rId8"/>
    <p:sldId id="362" r:id="rId9"/>
    <p:sldId id="345" r:id="rId10"/>
    <p:sldId id="373" r:id="rId11"/>
    <p:sldId id="369" r:id="rId12"/>
    <p:sldId id="333" r:id="rId13"/>
    <p:sldId id="366" r:id="rId14"/>
    <p:sldId id="377" r:id="rId15"/>
    <p:sldId id="335" r:id="rId16"/>
    <p:sldId id="378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0DF144E-D825-4978-9691-B0D2D7E94EBC}">
          <p14:sldIdLst>
            <p14:sldId id="379"/>
            <p14:sldId id="374"/>
            <p14:sldId id="359"/>
            <p14:sldId id="376"/>
            <p14:sldId id="339"/>
            <p14:sldId id="371"/>
            <p14:sldId id="329"/>
            <p14:sldId id="362"/>
            <p14:sldId id="345"/>
            <p14:sldId id="373"/>
            <p14:sldId id="369"/>
            <p14:sldId id="333"/>
            <p14:sldId id="366"/>
            <p14:sldId id="377"/>
            <p14:sldId id="335"/>
            <p14:sldId id="3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D3D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7" autoAdjust="0"/>
    <p:restoredTop sz="93038" autoAdjust="0"/>
  </p:normalViewPr>
  <p:slideViewPr>
    <p:cSldViewPr snapToGrid="0">
      <p:cViewPr varScale="1">
        <p:scale>
          <a:sx n="150" d="100"/>
          <a:sy n="150" d="100"/>
        </p:scale>
        <p:origin x="568" y="7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177A8-5119-3424-2B93-160B7A00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46F0B0-662C-FAED-12F0-11259C01DE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529F6-EA89-91AF-972B-C795286641C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9593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2A5E7-91E9-EDE4-98FC-05005401B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D92866-1E5F-9F3D-CDA7-612ED013E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FDA4FA-BF76-B4FA-D3FA-BCB6BC5C9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F8DF95-F45D-1B6A-D47D-193191C1A8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779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1AAA-BD8C-05AB-7333-6A847F359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A5CD4A-CBDC-98CD-3898-D77232550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F8F1CA-5D30-B02D-BCA0-9560CD35C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8AA160-0987-4266-D7F8-C6DE920F3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275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227A2-B525-1677-1140-52D903EE9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FB6C26-7029-3F80-0FEB-84488919A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E4A714-496F-A849-592E-D5D070952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6461F7-08FA-5489-5CC7-68D889CD7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380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endParaRPr lang="zh-CN" altLang="en-US" sz="12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BEFF4-A1DB-B605-6B4F-0B4B91AB9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41DCA2-60DD-C9D2-4090-EFC6B738E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627A58-C24C-72DB-6AEB-4CD1AD96C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FA8F39-0A27-C235-B76C-4FD4A6B075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635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92295-9B49-5303-D9C5-ABBBDA7E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119D10-4C37-D76E-0181-D0409F7CF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D8528F-F87E-ACF1-F98C-A9A98F87C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BFA6A1-4877-DFD1-1055-E530B1342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174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61D0-1535-F6E6-8B22-E211DCD8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424230-3147-50E1-ADFC-7A2EFE16A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E0A91B-3B7B-BF57-10F6-E75BAAB50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sz="12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4DBFED-B168-75A3-3A03-C3134AF617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757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B7C9-69D0-15DB-9D41-2894A071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E10E51-6078-03AE-3D67-3621D6512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100ED5-924B-64A1-0147-1B18AD4CD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1E573E-0E7D-2E41-94DD-D171E5FB5D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824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132D2-0C48-E310-2380-2B777B8A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DA4A20-737F-6E70-5C29-63020FA48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B253F3-A316-A891-3945-2EF713629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AFD6F4-DDB0-D142-FE9C-3D71C1FBF7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324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1B45-C501-128D-B755-FA72412C0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4A5EB1-069D-9B96-22B1-1BFB5C3C4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43BDCF-125F-33B5-68C9-E0583F44B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sz="12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30E641-561D-47D1-B991-3CA5BA131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753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D4233-1491-A8E9-EA81-EAE54951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DF4CD5-01BB-586B-2F77-08B418D00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0B058A-900C-8E2E-A23F-6AA47C6B2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BE411-DBD6-9E12-A112-3F4F79337D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815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E1FB-34C6-2CEF-C7C5-CB5CD37F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447031-38F0-29FB-D1C5-298D5B2BD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6F4E1B-A8B0-704D-9CE5-14D59917978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3919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9A54-38AD-4D4C-A6B7-09682607540D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60CDD-2204-422B-9555-9210C5DD0997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5783-B398-41B5-8F75-CF1817C83B09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88709-F7B4-4308-8265-1A2AA18BE7C7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A063-8DC9-4CA9-81D3-429167E28334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00FF4-83F3-496B-A859-187A914B8DB3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848C-D36B-4CA7-A068-33C3FA5BF273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62F68-053E-49E0-AD3D-44A4D1A37F5A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A914B-AB07-43E1-B547-C4633A606A86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9388-0FA6-4735-85CC-C77D9E75A032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DFE4-6E78-41C6-9275-3C704B75E388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7B6EA-BF5C-4999-8A02-3C1066414EBF}" type="datetime1">
              <a:rPr lang="zh-CN" altLang="en-US" smtClean="0"/>
              <a:t>2025/8/18 Monday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sv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jpe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23" Type="http://schemas.openxmlformats.org/officeDocument/2006/relationships/image" Target="../media/image26.svg"/><Relationship Id="rId10" Type="http://schemas.openxmlformats.org/officeDocument/2006/relationships/image" Target="../media/image13.svg"/><Relationship Id="rId19" Type="http://schemas.openxmlformats.org/officeDocument/2006/relationships/image" Target="../media/image22.sv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svg"/><Relationship Id="rId18" Type="http://schemas.openxmlformats.org/officeDocument/2006/relationships/image" Target="../media/image60.png"/><Relationship Id="rId3" Type="http://schemas.openxmlformats.org/officeDocument/2006/relationships/image" Target="../media/image45.png"/><Relationship Id="rId21" Type="http://schemas.openxmlformats.org/officeDocument/2006/relationships/image" Target="../media/image63.svg"/><Relationship Id="rId7" Type="http://schemas.openxmlformats.org/officeDocument/2006/relationships/image" Target="../media/image49.svg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5" Type="http://schemas.openxmlformats.org/officeDocument/2006/relationships/image" Target="../media/image67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24" Type="http://schemas.openxmlformats.org/officeDocument/2006/relationships/image" Target="../media/image66.png"/><Relationship Id="rId5" Type="http://schemas.openxmlformats.org/officeDocument/2006/relationships/image" Target="../media/image47.svg"/><Relationship Id="rId15" Type="http://schemas.openxmlformats.org/officeDocument/2006/relationships/image" Target="../media/image57.svg"/><Relationship Id="rId23" Type="http://schemas.openxmlformats.org/officeDocument/2006/relationships/image" Target="../media/image65.svg"/><Relationship Id="rId10" Type="http://schemas.openxmlformats.org/officeDocument/2006/relationships/image" Target="../media/image52.png"/><Relationship Id="rId19" Type="http://schemas.openxmlformats.org/officeDocument/2006/relationships/image" Target="../media/image61.svg"/><Relationship Id="rId4" Type="http://schemas.openxmlformats.org/officeDocument/2006/relationships/image" Target="../media/image46.png"/><Relationship Id="rId9" Type="http://schemas.openxmlformats.org/officeDocument/2006/relationships/image" Target="../media/image51.sv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svg"/><Relationship Id="rId18" Type="http://schemas.openxmlformats.org/officeDocument/2006/relationships/image" Target="../media/image60.png"/><Relationship Id="rId26" Type="http://schemas.openxmlformats.org/officeDocument/2006/relationships/image" Target="../media/image31.png"/><Relationship Id="rId3" Type="http://schemas.openxmlformats.org/officeDocument/2006/relationships/image" Target="../media/image45.png"/><Relationship Id="rId21" Type="http://schemas.openxmlformats.org/officeDocument/2006/relationships/image" Target="../media/image63.svg"/><Relationship Id="rId7" Type="http://schemas.openxmlformats.org/officeDocument/2006/relationships/image" Target="../media/image49.svg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5" Type="http://schemas.openxmlformats.org/officeDocument/2006/relationships/image" Target="../media/image67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29" Type="http://schemas.openxmlformats.org/officeDocument/2006/relationships/image" Target="../media/image6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24" Type="http://schemas.openxmlformats.org/officeDocument/2006/relationships/image" Target="../media/image66.png"/><Relationship Id="rId5" Type="http://schemas.openxmlformats.org/officeDocument/2006/relationships/image" Target="../media/image47.svg"/><Relationship Id="rId15" Type="http://schemas.openxmlformats.org/officeDocument/2006/relationships/image" Target="../media/image57.svg"/><Relationship Id="rId23" Type="http://schemas.openxmlformats.org/officeDocument/2006/relationships/image" Target="../media/image65.svg"/><Relationship Id="rId28" Type="http://schemas.openxmlformats.org/officeDocument/2006/relationships/image" Target="../media/image68.png"/><Relationship Id="rId10" Type="http://schemas.openxmlformats.org/officeDocument/2006/relationships/image" Target="../media/image52.png"/><Relationship Id="rId19" Type="http://schemas.openxmlformats.org/officeDocument/2006/relationships/image" Target="../media/image61.svg"/><Relationship Id="rId4" Type="http://schemas.openxmlformats.org/officeDocument/2006/relationships/image" Target="../media/image46.png"/><Relationship Id="rId9" Type="http://schemas.openxmlformats.org/officeDocument/2006/relationships/image" Target="../media/image51.svg"/><Relationship Id="rId14" Type="http://schemas.openxmlformats.org/officeDocument/2006/relationships/image" Target="../media/image56.png"/><Relationship Id="rId22" Type="http://schemas.openxmlformats.org/officeDocument/2006/relationships/image" Target="../media/image64.png"/><Relationship Id="rId27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svg"/><Relationship Id="rId18" Type="http://schemas.openxmlformats.org/officeDocument/2006/relationships/image" Target="../media/image70.png"/><Relationship Id="rId26" Type="http://schemas.openxmlformats.org/officeDocument/2006/relationships/image" Target="../media/image66.png"/><Relationship Id="rId39" Type="http://schemas.openxmlformats.org/officeDocument/2006/relationships/image" Target="../media/image83.svg"/><Relationship Id="rId21" Type="http://schemas.openxmlformats.org/officeDocument/2006/relationships/image" Target="../media/image61.svg"/><Relationship Id="rId34" Type="http://schemas.openxmlformats.org/officeDocument/2006/relationships/image" Target="../media/image78.png"/><Relationship Id="rId42" Type="http://schemas.openxmlformats.org/officeDocument/2006/relationships/image" Target="../media/image86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8.png"/><Relationship Id="rId20" Type="http://schemas.openxmlformats.org/officeDocument/2006/relationships/image" Target="../media/image60.png"/><Relationship Id="rId29" Type="http://schemas.openxmlformats.org/officeDocument/2006/relationships/image" Target="../media/image73.png"/><Relationship Id="rId41" Type="http://schemas.openxmlformats.org/officeDocument/2006/relationships/image" Target="../media/image8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24" Type="http://schemas.openxmlformats.org/officeDocument/2006/relationships/image" Target="../media/image64.png"/><Relationship Id="rId32" Type="http://schemas.openxmlformats.org/officeDocument/2006/relationships/image" Target="../media/image76.png"/><Relationship Id="rId37" Type="http://schemas.openxmlformats.org/officeDocument/2006/relationships/image" Target="../media/image81.svg"/><Relationship Id="rId40" Type="http://schemas.openxmlformats.org/officeDocument/2006/relationships/image" Target="../media/image84.png"/><Relationship Id="rId5" Type="http://schemas.openxmlformats.org/officeDocument/2006/relationships/image" Target="../media/image47.svg"/><Relationship Id="rId15" Type="http://schemas.openxmlformats.org/officeDocument/2006/relationships/image" Target="../media/image57.svg"/><Relationship Id="rId23" Type="http://schemas.openxmlformats.org/officeDocument/2006/relationships/image" Target="../media/image63.svg"/><Relationship Id="rId28" Type="http://schemas.openxmlformats.org/officeDocument/2006/relationships/image" Target="../media/image72.png"/><Relationship Id="rId36" Type="http://schemas.openxmlformats.org/officeDocument/2006/relationships/image" Target="../media/image80.png"/><Relationship Id="rId10" Type="http://schemas.openxmlformats.org/officeDocument/2006/relationships/image" Target="../media/image52.png"/><Relationship Id="rId19" Type="http://schemas.openxmlformats.org/officeDocument/2006/relationships/image" Target="../media/image71.svg"/><Relationship Id="rId31" Type="http://schemas.openxmlformats.org/officeDocument/2006/relationships/image" Target="../media/image75.svg"/><Relationship Id="rId44" Type="http://schemas.openxmlformats.org/officeDocument/2006/relationships/image" Target="../media/image88.png"/><Relationship Id="rId4" Type="http://schemas.openxmlformats.org/officeDocument/2006/relationships/image" Target="../media/image46.png"/><Relationship Id="rId9" Type="http://schemas.openxmlformats.org/officeDocument/2006/relationships/image" Target="../media/image51.svg"/><Relationship Id="rId14" Type="http://schemas.openxmlformats.org/officeDocument/2006/relationships/image" Target="../media/image56.png"/><Relationship Id="rId22" Type="http://schemas.openxmlformats.org/officeDocument/2006/relationships/image" Target="../media/image62.png"/><Relationship Id="rId27" Type="http://schemas.openxmlformats.org/officeDocument/2006/relationships/image" Target="../media/image67.svg"/><Relationship Id="rId30" Type="http://schemas.openxmlformats.org/officeDocument/2006/relationships/image" Target="../media/image74.png"/><Relationship Id="rId35" Type="http://schemas.openxmlformats.org/officeDocument/2006/relationships/image" Target="../media/image79.svg"/><Relationship Id="rId43" Type="http://schemas.openxmlformats.org/officeDocument/2006/relationships/image" Target="../media/image87.svg"/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5" Type="http://schemas.openxmlformats.org/officeDocument/2006/relationships/image" Target="../media/image65.svg"/><Relationship Id="rId33" Type="http://schemas.openxmlformats.org/officeDocument/2006/relationships/image" Target="../media/image77.svg"/><Relationship Id="rId38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4" Type="http://schemas.openxmlformats.org/officeDocument/2006/relationships/image" Target="../media/image9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D2AC-D491-4E6C-0BB8-BE1BE8992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5AAE059E-B06C-FD3F-D2CC-4DE2E43EED95}"/>
              </a:ext>
            </a:extLst>
          </p:cNvPr>
          <p:cNvSpPr/>
          <p:nvPr/>
        </p:nvSpPr>
        <p:spPr>
          <a:xfrm rot="5400000">
            <a:off x="0" y="0"/>
            <a:ext cx="2160000" cy="21600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5B976BE7-EAEE-0CF6-2DD0-314CCD861253}"/>
              </a:ext>
            </a:extLst>
          </p:cNvPr>
          <p:cNvSpPr/>
          <p:nvPr/>
        </p:nvSpPr>
        <p:spPr>
          <a:xfrm rot="16200000">
            <a:off x="10031730" y="4697730"/>
            <a:ext cx="2160000" cy="21600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316CA4-5927-1A9B-5BC9-A6A191F64303}"/>
              </a:ext>
            </a:extLst>
          </p:cNvPr>
          <p:cNvSpPr txBox="1"/>
          <p:nvPr/>
        </p:nvSpPr>
        <p:spPr>
          <a:xfrm>
            <a:off x="561657" y="2202057"/>
            <a:ext cx="11068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OmniDMA: Scalable RDMA Transport over WAN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FF1D03-AE8F-436F-7F1E-E3CEDDE1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8" name="Picture 5" descr="A logo for a computer company&#10;&#10;Description automatically generated">
            <a:extLst>
              <a:ext uri="{FF2B5EF4-FFF2-40B4-BE49-F238E27FC236}">
                <a16:creationId xmlns:a16="http://schemas.microsoft.com/office/drawing/2014/main" id="{A3D1FF19-88DF-F567-4E97-59C19A7D0C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461" t="11784" r="30421" b="43352"/>
          <a:stretch>
            <a:fillRect/>
          </a:stretch>
        </p:blipFill>
        <p:spPr>
          <a:xfrm>
            <a:off x="3041949" y="4658723"/>
            <a:ext cx="1076560" cy="89206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ACF05BD-02DC-79F6-1F22-9C5B2E92F7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4283"/>
          <a:stretch>
            <a:fillRect/>
          </a:stretch>
        </p:blipFill>
        <p:spPr bwMode="auto">
          <a:xfrm>
            <a:off x="4754502" y="4657591"/>
            <a:ext cx="1162512" cy="85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71C436A1-EB7F-0805-C116-84D37899C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857" y="4657591"/>
            <a:ext cx="934861" cy="93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NET 2025, Shanghai, China">
            <a:extLst>
              <a:ext uri="{FF2B5EF4-FFF2-40B4-BE49-F238E27FC236}">
                <a16:creationId xmlns:a16="http://schemas.microsoft.com/office/drawing/2014/main" id="{D5B70B65-185F-CB90-C8CF-A2A637B06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0663" y="158504"/>
            <a:ext cx="1628016" cy="147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CE3A5AC-4266-C35E-E4CF-5C0E74980F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5561" y="4611436"/>
            <a:ext cx="934861" cy="939356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C06C48A1-491E-4599-2015-2120A07C5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8181" y="3356573"/>
            <a:ext cx="8315635" cy="855237"/>
          </a:xfrm>
        </p:spPr>
        <p:txBody>
          <a:bodyPr>
            <a:normAutofit/>
          </a:bodyPr>
          <a:lstStyle/>
          <a:p>
            <a:r>
              <a:rPr lang="en-US" dirty="0"/>
              <a:t>Kai Lv, </a:t>
            </a:r>
            <a:r>
              <a:rPr lang="en-US" altLang="zh-CN" dirty="0" err="1"/>
              <a:t>Jinyang</a:t>
            </a:r>
            <a:r>
              <a:rPr lang="en-US" altLang="zh-CN" dirty="0"/>
              <a:t> Li</a:t>
            </a:r>
            <a:r>
              <a:rPr lang="en-US" dirty="0"/>
              <a:t>, </a:t>
            </a:r>
            <a:r>
              <a:rPr lang="en-US" dirty="0" err="1"/>
              <a:t>Pengyi</a:t>
            </a:r>
            <a:r>
              <a:rPr lang="en-US" dirty="0"/>
              <a:t> Zhang, Heng Pan, </a:t>
            </a:r>
            <a:r>
              <a:rPr lang="en-US" dirty="0" err="1"/>
              <a:t>Luyang</a:t>
            </a:r>
            <a:r>
              <a:rPr lang="en-US" dirty="0"/>
              <a:t> Li, </a:t>
            </a:r>
            <a:r>
              <a:rPr lang="en-US" dirty="0" err="1"/>
              <a:t>Shuihai</a:t>
            </a:r>
            <a:r>
              <a:rPr lang="en-US" dirty="0"/>
              <a:t> Hu, Zhenyu Li, </a:t>
            </a:r>
            <a:r>
              <a:rPr lang="en-US" dirty="0" err="1"/>
              <a:t>Gaogang</a:t>
            </a:r>
            <a:r>
              <a:rPr lang="en-US" dirty="0"/>
              <a:t> Xie, </a:t>
            </a:r>
            <a:r>
              <a:rPr lang="en-US" dirty="0" err="1"/>
              <a:t>Jingbin</a:t>
            </a:r>
            <a:r>
              <a:rPr lang="en-US" dirty="0"/>
              <a:t> Zhou, and Kun Tan</a:t>
            </a:r>
          </a:p>
        </p:txBody>
      </p:sp>
    </p:spTree>
    <p:extLst>
      <p:ext uri="{BB962C8B-B14F-4D97-AF65-F5344CB8AC3E}">
        <p14:creationId xmlns:p14="http://schemas.microsoft.com/office/powerpoint/2010/main" val="371252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663C1-3CB4-CC74-0D7D-E34856BD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355F62A-D041-F55E-FFF9-EF3DF024A81A}"/>
              </a:ext>
            </a:extLst>
          </p:cNvPr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51EA30-C6F3-E637-F792-D95D2919A264}"/>
              </a:ext>
            </a:extLst>
          </p:cNvPr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B5B482-25C9-EE09-C176-F8455CABCF00}"/>
              </a:ext>
            </a:extLst>
          </p:cNvPr>
          <p:cNvSpPr txBox="1"/>
          <p:nvPr/>
        </p:nvSpPr>
        <p:spPr>
          <a:xfrm>
            <a:off x="601980" y="324485"/>
            <a:ext cx="10751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Growing Demand for Cross-Geolocation Transport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B36E698-4040-4535-7FE1-8E2740A5418D}"/>
              </a:ext>
            </a:extLst>
          </p:cNvPr>
          <p:cNvSpPr txBox="1"/>
          <p:nvPr/>
        </p:nvSpPr>
        <p:spPr>
          <a:xfrm>
            <a:off x="502642" y="1105286"/>
            <a:ext cx="9952916" cy="1579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b="1" dirty="0"/>
              <a:t>Distributed tasks require high-performance geo-distributed transport</a:t>
            </a:r>
            <a:endParaRPr lang="en-US" altLang="zh-CN" sz="2000" b="1" dirty="0"/>
          </a:p>
          <a:p>
            <a:pPr marL="285750" indent="-2857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For efficient data replication and freshness</a:t>
            </a:r>
          </a:p>
          <a:p>
            <a:pPr marL="285750" indent="-28575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Cross DCI / DC-WAN /</a:t>
            </a:r>
            <a:r>
              <a:rPr lang="zh-CN" altLang="en-US" sz="2000" dirty="0"/>
              <a:t> </a:t>
            </a:r>
            <a:r>
              <a:rPr lang="en-US" altLang="zh-CN" sz="2000" dirty="0"/>
              <a:t>WAN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30B60C4-E160-332F-0B58-B81FA3EE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2B4B80F-FB09-995B-6E9C-C59FCAE6AB77}"/>
              </a:ext>
            </a:extLst>
          </p:cNvPr>
          <p:cNvGrpSpPr/>
          <p:nvPr/>
        </p:nvGrpSpPr>
        <p:grpSpPr>
          <a:xfrm>
            <a:off x="6199020" y="2119745"/>
            <a:ext cx="4854719" cy="4236605"/>
            <a:chOff x="6707187" y="2348064"/>
            <a:chExt cx="4527550" cy="4008286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3B0B7143-1544-56C5-992B-0AC7814A7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7193" y="3087548"/>
              <a:ext cx="519945" cy="357299"/>
            </a:xfrm>
            <a:prstGeom prst="rect">
              <a:avLst/>
            </a:prstGeom>
          </p:spPr>
        </p:pic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1D2ECAA2-5C67-2541-31B8-6080BB6DDE40}"/>
                </a:ext>
              </a:extLst>
            </p:cNvPr>
            <p:cNvSpPr/>
            <p:nvPr/>
          </p:nvSpPr>
          <p:spPr>
            <a:xfrm>
              <a:off x="7783482" y="4904976"/>
              <a:ext cx="81535" cy="453389"/>
            </a:xfrm>
            <a:custGeom>
              <a:avLst/>
              <a:gdLst>
                <a:gd name="connsiteX0" fmla="*/ 96520 w 101600"/>
                <a:gd name="connsiteY0" fmla="*/ 0 h 523240"/>
                <a:gd name="connsiteX1" fmla="*/ 101600 w 101600"/>
                <a:gd name="connsiteY1" fmla="*/ 335280 h 523240"/>
                <a:gd name="connsiteX2" fmla="*/ 0 w 101600"/>
                <a:gd name="connsiteY2" fmla="*/ 523240 h 523240"/>
                <a:gd name="connsiteX3" fmla="*/ 0 w 101600"/>
                <a:gd name="connsiteY3" fmla="*/ 523240 h 523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00" h="523240">
                  <a:moveTo>
                    <a:pt x="96520" y="0"/>
                  </a:moveTo>
                  <a:cubicBezTo>
                    <a:pt x="98213" y="111760"/>
                    <a:pt x="99907" y="223520"/>
                    <a:pt x="101600" y="335280"/>
                  </a:cubicBezTo>
                  <a:lnTo>
                    <a:pt x="0" y="523240"/>
                  </a:lnTo>
                  <a:lnTo>
                    <a:pt x="0" y="523240"/>
                  </a:lnTo>
                </a:path>
              </a:pathLst>
            </a:custGeom>
            <a:ln w="12700">
              <a:solidFill>
                <a:schemeClr val="accent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5FF5BEB2-A023-E302-508E-DF88966F61A9}"/>
                </a:ext>
              </a:extLst>
            </p:cNvPr>
            <p:cNvSpPr/>
            <p:nvPr/>
          </p:nvSpPr>
          <p:spPr>
            <a:xfrm flipH="1">
              <a:off x="10255785" y="4908627"/>
              <a:ext cx="113893" cy="578390"/>
            </a:xfrm>
            <a:custGeom>
              <a:avLst/>
              <a:gdLst>
                <a:gd name="connsiteX0" fmla="*/ 96520 w 101600"/>
                <a:gd name="connsiteY0" fmla="*/ 0 h 523240"/>
                <a:gd name="connsiteX1" fmla="*/ 101600 w 101600"/>
                <a:gd name="connsiteY1" fmla="*/ 335280 h 523240"/>
                <a:gd name="connsiteX2" fmla="*/ 0 w 101600"/>
                <a:gd name="connsiteY2" fmla="*/ 523240 h 523240"/>
                <a:gd name="connsiteX3" fmla="*/ 0 w 101600"/>
                <a:gd name="connsiteY3" fmla="*/ 523240 h 523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00" h="523240">
                  <a:moveTo>
                    <a:pt x="96520" y="0"/>
                  </a:moveTo>
                  <a:cubicBezTo>
                    <a:pt x="98213" y="111760"/>
                    <a:pt x="99907" y="223520"/>
                    <a:pt x="101600" y="335280"/>
                  </a:cubicBezTo>
                  <a:lnTo>
                    <a:pt x="0" y="523240"/>
                  </a:lnTo>
                  <a:lnTo>
                    <a:pt x="0" y="523240"/>
                  </a:lnTo>
                </a:path>
              </a:pathLst>
            </a:custGeom>
            <a:ln w="12700">
              <a:solidFill>
                <a:schemeClr val="accent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4F55A391-2A25-15E5-6E70-E178B8A261D9}"/>
                </a:ext>
              </a:extLst>
            </p:cNvPr>
            <p:cNvSpPr/>
            <p:nvPr/>
          </p:nvSpPr>
          <p:spPr>
            <a:xfrm>
              <a:off x="8683954" y="4913837"/>
              <a:ext cx="36690" cy="603334"/>
            </a:xfrm>
            <a:custGeom>
              <a:avLst/>
              <a:gdLst>
                <a:gd name="connsiteX0" fmla="*/ 96520 w 101600"/>
                <a:gd name="connsiteY0" fmla="*/ 0 h 523240"/>
                <a:gd name="connsiteX1" fmla="*/ 101600 w 101600"/>
                <a:gd name="connsiteY1" fmla="*/ 335280 h 523240"/>
                <a:gd name="connsiteX2" fmla="*/ 0 w 101600"/>
                <a:gd name="connsiteY2" fmla="*/ 523240 h 523240"/>
                <a:gd name="connsiteX3" fmla="*/ 0 w 101600"/>
                <a:gd name="connsiteY3" fmla="*/ 523240 h 523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00" h="523240">
                  <a:moveTo>
                    <a:pt x="96520" y="0"/>
                  </a:moveTo>
                  <a:cubicBezTo>
                    <a:pt x="98213" y="111760"/>
                    <a:pt x="99907" y="223520"/>
                    <a:pt x="101600" y="335280"/>
                  </a:cubicBezTo>
                  <a:lnTo>
                    <a:pt x="0" y="523240"/>
                  </a:lnTo>
                  <a:lnTo>
                    <a:pt x="0" y="523240"/>
                  </a:lnTo>
                </a:path>
              </a:pathLst>
            </a:custGeom>
            <a:ln w="12700">
              <a:solidFill>
                <a:schemeClr val="accent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1D34FDC3-DAE5-D90E-3F8B-C06F93929C9E}"/>
                </a:ext>
              </a:extLst>
            </p:cNvPr>
            <p:cNvSpPr/>
            <p:nvPr/>
          </p:nvSpPr>
          <p:spPr>
            <a:xfrm flipH="1">
              <a:off x="9393584" y="4916128"/>
              <a:ext cx="36690" cy="603334"/>
            </a:xfrm>
            <a:custGeom>
              <a:avLst/>
              <a:gdLst>
                <a:gd name="connsiteX0" fmla="*/ 96520 w 101600"/>
                <a:gd name="connsiteY0" fmla="*/ 0 h 523240"/>
                <a:gd name="connsiteX1" fmla="*/ 101600 w 101600"/>
                <a:gd name="connsiteY1" fmla="*/ 335280 h 523240"/>
                <a:gd name="connsiteX2" fmla="*/ 0 w 101600"/>
                <a:gd name="connsiteY2" fmla="*/ 523240 h 523240"/>
                <a:gd name="connsiteX3" fmla="*/ 0 w 101600"/>
                <a:gd name="connsiteY3" fmla="*/ 523240 h 523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600" h="523240">
                  <a:moveTo>
                    <a:pt x="96520" y="0"/>
                  </a:moveTo>
                  <a:cubicBezTo>
                    <a:pt x="98213" y="111760"/>
                    <a:pt x="99907" y="223520"/>
                    <a:pt x="101600" y="335280"/>
                  </a:cubicBezTo>
                  <a:lnTo>
                    <a:pt x="0" y="523240"/>
                  </a:lnTo>
                  <a:lnTo>
                    <a:pt x="0" y="523240"/>
                  </a:lnTo>
                </a:path>
              </a:pathLst>
            </a:custGeom>
            <a:ln w="12700">
              <a:solidFill>
                <a:schemeClr val="accent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8B3F3B75-BF28-17B0-85D5-D92B78E67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6707187" y="2348064"/>
              <a:ext cx="4527550" cy="2785807"/>
            </a:xfrm>
            <a:prstGeom prst="rect">
              <a:avLst/>
            </a:prstGeom>
          </p:spPr>
        </p:pic>
        <p:pic>
          <p:nvPicPr>
            <p:cNvPr id="2050" name="Picture 2" descr="ChatGPT - Wikipedia">
              <a:extLst>
                <a:ext uri="{FF2B5EF4-FFF2-40B4-BE49-F238E27FC236}">
                  <a16:creationId xmlns:a16="http://schemas.microsoft.com/office/drawing/2014/main" id="{0F55999F-4EF5-8A1E-5C79-A38333C96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8737" y="3036611"/>
              <a:ext cx="425501" cy="4594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内容占位符 2">
              <a:extLst>
                <a:ext uri="{FF2B5EF4-FFF2-40B4-BE49-F238E27FC236}">
                  <a16:creationId xmlns:a16="http://schemas.microsoft.com/office/drawing/2014/main" id="{2D9A881D-A396-C701-6568-B598F243B7A1}"/>
                </a:ext>
              </a:extLst>
            </p:cNvPr>
            <p:cNvSpPr txBox="1"/>
            <p:nvPr/>
          </p:nvSpPr>
          <p:spPr>
            <a:xfrm>
              <a:off x="7751304" y="4622701"/>
              <a:ext cx="2735138" cy="48970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CN" sz="1600" b="1" dirty="0"/>
                <a:t>Geo-distributed Cloud Services</a:t>
              </a:r>
            </a:p>
          </p:txBody>
        </p:sp>
        <p:sp>
          <p:nvSpPr>
            <p:cNvPr id="15" name="内容占位符 2">
              <a:extLst>
                <a:ext uri="{FF2B5EF4-FFF2-40B4-BE49-F238E27FC236}">
                  <a16:creationId xmlns:a16="http://schemas.microsoft.com/office/drawing/2014/main" id="{A99EB52F-CCC4-042C-F9F9-D280019EA795}"/>
                </a:ext>
              </a:extLst>
            </p:cNvPr>
            <p:cNvSpPr txBox="1"/>
            <p:nvPr/>
          </p:nvSpPr>
          <p:spPr>
            <a:xfrm>
              <a:off x="8532946" y="3508400"/>
              <a:ext cx="984377" cy="3390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CN" sz="1100" b="1" dirty="0"/>
                <a:t>LLM training</a:t>
              </a:r>
            </a:p>
          </p:txBody>
        </p:sp>
        <p:pic>
          <p:nvPicPr>
            <p:cNvPr id="17" name="图形 16">
              <a:extLst>
                <a:ext uri="{FF2B5EF4-FFF2-40B4-BE49-F238E27FC236}">
                  <a16:creationId xmlns:a16="http://schemas.microsoft.com/office/drawing/2014/main" id="{A9F8A47D-1A9C-B262-991A-DBB549287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69415" y="3831729"/>
              <a:ext cx="470207" cy="507699"/>
            </a:xfrm>
            <a:prstGeom prst="rect">
              <a:avLst/>
            </a:prstGeom>
          </p:spPr>
        </p:pic>
        <p:sp>
          <p:nvSpPr>
            <p:cNvPr id="18" name="内容占位符 2">
              <a:extLst>
                <a:ext uri="{FF2B5EF4-FFF2-40B4-BE49-F238E27FC236}">
                  <a16:creationId xmlns:a16="http://schemas.microsoft.com/office/drawing/2014/main" id="{7DBF6690-5C22-981A-9DA0-FBBB3D9C06BB}"/>
                </a:ext>
              </a:extLst>
            </p:cNvPr>
            <p:cNvSpPr txBox="1"/>
            <p:nvPr/>
          </p:nvSpPr>
          <p:spPr>
            <a:xfrm>
              <a:off x="8195822" y="4351184"/>
              <a:ext cx="762588" cy="33905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CN" sz="1200" b="1" dirty="0"/>
                <a:t>Database </a:t>
              </a:r>
            </a:p>
          </p:txBody>
        </p:sp>
        <p:pic>
          <p:nvPicPr>
            <p:cNvPr id="20" name="图形 19">
              <a:extLst>
                <a:ext uri="{FF2B5EF4-FFF2-40B4-BE49-F238E27FC236}">
                  <a16:creationId xmlns:a16="http://schemas.microsoft.com/office/drawing/2014/main" id="{F8CDC0BE-764F-7582-0E5A-92D195B79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346389" y="3868911"/>
              <a:ext cx="429997" cy="464283"/>
            </a:xfrm>
            <a:prstGeom prst="rect">
              <a:avLst/>
            </a:prstGeom>
          </p:spPr>
        </p:pic>
        <p:sp>
          <p:nvSpPr>
            <p:cNvPr id="21" name="内容占位符 2">
              <a:extLst>
                <a:ext uri="{FF2B5EF4-FFF2-40B4-BE49-F238E27FC236}">
                  <a16:creationId xmlns:a16="http://schemas.microsoft.com/office/drawing/2014/main" id="{EBFEADB1-0DBD-418D-7E24-8154764DF539}"/>
                </a:ext>
              </a:extLst>
            </p:cNvPr>
            <p:cNvSpPr txBox="1"/>
            <p:nvPr/>
          </p:nvSpPr>
          <p:spPr>
            <a:xfrm>
              <a:off x="7274903" y="4362750"/>
              <a:ext cx="657067" cy="33905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CN" sz="1300" b="1" dirty="0"/>
                <a:t>Storage </a:t>
              </a:r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4EF2DE3B-08A4-B5FA-1C46-CC7AC26DD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74351" y="3858587"/>
              <a:ext cx="429997" cy="464283"/>
            </a:xfrm>
            <a:prstGeom prst="rect">
              <a:avLst/>
            </a:prstGeom>
          </p:spPr>
        </p:pic>
        <p:sp>
          <p:nvSpPr>
            <p:cNvPr id="24" name="内容占位符 2">
              <a:extLst>
                <a:ext uri="{FF2B5EF4-FFF2-40B4-BE49-F238E27FC236}">
                  <a16:creationId xmlns:a16="http://schemas.microsoft.com/office/drawing/2014/main" id="{BF5D89B5-BABC-E0C8-EEFB-FDC0ECE1D224}"/>
                </a:ext>
              </a:extLst>
            </p:cNvPr>
            <p:cNvSpPr txBox="1"/>
            <p:nvPr/>
          </p:nvSpPr>
          <p:spPr>
            <a:xfrm>
              <a:off x="9942288" y="4295390"/>
              <a:ext cx="843882" cy="3837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b="1" dirty="0"/>
                <a:t>Data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b="1" dirty="0"/>
                <a:t>moving</a:t>
              </a: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D7A0444F-88E7-EAFB-0113-35405937B3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7638520" y="2906620"/>
              <a:ext cx="734377" cy="680145"/>
            </a:xfrm>
            <a:prstGeom prst="rect">
              <a:avLst/>
            </a:prstGeom>
            <a:noFill/>
          </p:spPr>
        </p:pic>
        <p:sp>
          <p:nvSpPr>
            <p:cNvPr id="25" name="内容占位符 2">
              <a:extLst>
                <a:ext uri="{FF2B5EF4-FFF2-40B4-BE49-F238E27FC236}">
                  <a16:creationId xmlns:a16="http://schemas.microsoft.com/office/drawing/2014/main" id="{1148FDC8-FF18-5D6B-C60B-5B7F6EC5A473}"/>
                </a:ext>
              </a:extLst>
            </p:cNvPr>
            <p:cNvSpPr txBox="1"/>
            <p:nvPr/>
          </p:nvSpPr>
          <p:spPr>
            <a:xfrm>
              <a:off x="7599200" y="3467167"/>
              <a:ext cx="843882" cy="3837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b="1" dirty="0"/>
                <a:t>Federated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b="1" dirty="0"/>
                <a:t>learning</a:t>
              </a:r>
            </a:p>
          </p:txBody>
        </p:sp>
        <p:sp>
          <p:nvSpPr>
            <p:cNvPr id="28" name="内容占位符 2">
              <a:extLst>
                <a:ext uri="{FF2B5EF4-FFF2-40B4-BE49-F238E27FC236}">
                  <a16:creationId xmlns:a16="http://schemas.microsoft.com/office/drawing/2014/main" id="{0D16E241-B4A7-46F4-8977-4A3926F7E78D}"/>
                </a:ext>
              </a:extLst>
            </p:cNvPr>
            <p:cNvSpPr txBox="1"/>
            <p:nvPr/>
          </p:nvSpPr>
          <p:spPr>
            <a:xfrm>
              <a:off x="9373277" y="3477588"/>
              <a:ext cx="984377" cy="3837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b="1" dirty="0"/>
                <a:t>Decentralized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b="1" dirty="0"/>
                <a:t>RL</a:t>
              </a:r>
            </a:p>
          </p:txBody>
        </p:sp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75DCAF24-73F8-18BB-CAFE-5DD3FCF5F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250486" y="3866841"/>
              <a:ext cx="412906" cy="445830"/>
            </a:xfrm>
            <a:prstGeom prst="rect">
              <a:avLst/>
            </a:prstGeom>
          </p:spPr>
        </p:pic>
        <p:sp>
          <p:nvSpPr>
            <p:cNvPr id="31" name="内容占位符 2">
              <a:extLst>
                <a:ext uri="{FF2B5EF4-FFF2-40B4-BE49-F238E27FC236}">
                  <a16:creationId xmlns:a16="http://schemas.microsoft.com/office/drawing/2014/main" id="{094500FC-2111-1B06-D2A6-4CB5501D9055}"/>
                </a:ext>
              </a:extLst>
            </p:cNvPr>
            <p:cNvSpPr txBox="1"/>
            <p:nvPr/>
          </p:nvSpPr>
          <p:spPr>
            <a:xfrm>
              <a:off x="9009313" y="4275709"/>
              <a:ext cx="891297" cy="40344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1100" b="1" dirty="0"/>
                <a:t>Distributed service</a:t>
              </a:r>
            </a:p>
          </p:txBody>
        </p:sp>
        <p:pic>
          <p:nvPicPr>
            <p:cNvPr id="35" name="图形 34">
              <a:extLst>
                <a:ext uri="{FF2B5EF4-FFF2-40B4-BE49-F238E27FC236}">
                  <a16:creationId xmlns:a16="http://schemas.microsoft.com/office/drawing/2014/main" id="{71B13AFE-E6E1-4E90-C845-83FB0BF0D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343253" y="5276124"/>
              <a:ext cx="767664" cy="828875"/>
            </a:xfrm>
            <a:prstGeom prst="rect">
              <a:avLst/>
            </a:prstGeom>
          </p:spPr>
        </p:pic>
        <p:sp>
          <p:nvSpPr>
            <p:cNvPr id="36" name="内容占位符 2">
              <a:extLst>
                <a:ext uri="{FF2B5EF4-FFF2-40B4-BE49-F238E27FC236}">
                  <a16:creationId xmlns:a16="http://schemas.microsoft.com/office/drawing/2014/main" id="{CD47BCFE-D700-86A9-FBE1-E87E32173140}"/>
                </a:ext>
              </a:extLst>
            </p:cNvPr>
            <p:cNvSpPr txBox="1"/>
            <p:nvPr/>
          </p:nvSpPr>
          <p:spPr>
            <a:xfrm>
              <a:off x="7333060" y="6017299"/>
              <a:ext cx="883247" cy="33905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CN" sz="1300" b="1" dirty="0"/>
                <a:t>Datacenters</a:t>
              </a:r>
            </a:p>
          </p:txBody>
        </p:sp>
        <p:sp>
          <p:nvSpPr>
            <p:cNvPr id="37" name="内容占位符 2">
              <a:extLst>
                <a:ext uri="{FF2B5EF4-FFF2-40B4-BE49-F238E27FC236}">
                  <a16:creationId xmlns:a16="http://schemas.microsoft.com/office/drawing/2014/main" id="{DFD3D8F9-C73B-392B-B622-73655474AF86}"/>
                </a:ext>
              </a:extLst>
            </p:cNvPr>
            <p:cNvSpPr txBox="1"/>
            <p:nvPr/>
          </p:nvSpPr>
          <p:spPr>
            <a:xfrm>
              <a:off x="8269786" y="6013196"/>
              <a:ext cx="883247" cy="33905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CN" sz="1300" b="1" dirty="0"/>
                <a:t>Cloud edge</a:t>
              </a:r>
            </a:p>
          </p:txBody>
        </p:sp>
        <p:pic>
          <p:nvPicPr>
            <p:cNvPr id="39" name="图形 38">
              <a:extLst>
                <a:ext uri="{FF2B5EF4-FFF2-40B4-BE49-F238E27FC236}">
                  <a16:creationId xmlns:a16="http://schemas.microsoft.com/office/drawing/2014/main" id="{013C1547-151C-19F1-5E94-4F9269580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329353" y="5434683"/>
              <a:ext cx="538494" cy="581432"/>
            </a:xfrm>
            <a:prstGeom prst="rect">
              <a:avLst/>
            </a:prstGeom>
          </p:spPr>
        </p:pic>
        <p:sp>
          <p:nvSpPr>
            <p:cNvPr id="40" name="内容占位符 2">
              <a:extLst>
                <a:ext uri="{FF2B5EF4-FFF2-40B4-BE49-F238E27FC236}">
                  <a16:creationId xmlns:a16="http://schemas.microsoft.com/office/drawing/2014/main" id="{09D73A1F-29E9-7C17-483B-01270AB43CDB}"/>
                </a:ext>
              </a:extLst>
            </p:cNvPr>
            <p:cNvSpPr txBox="1"/>
            <p:nvPr/>
          </p:nvSpPr>
          <p:spPr>
            <a:xfrm>
              <a:off x="9160770" y="6017299"/>
              <a:ext cx="1079725" cy="33905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CN" sz="1300" b="1" dirty="0"/>
                <a:t>Private Servers</a:t>
              </a:r>
            </a:p>
          </p:txBody>
        </p:sp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815BD198-0300-2FED-F278-7917AC3CA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350860" y="5389052"/>
              <a:ext cx="607550" cy="655994"/>
            </a:xfrm>
            <a:prstGeom prst="rect">
              <a:avLst/>
            </a:prstGeom>
          </p:spPr>
        </p:pic>
        <p:pic>
          <p:nvPicPr>
            <p:cNvPr id="46" name="图形 45">
              <a:extLst>
                <a:ext uri="{FF2B5EF4-FFF2-40B4-BE49-F238E27FC236}">
                  <a16:creationId xmlns:a16="http://schemas.microsoft.com/office/drawing/2014/main" id="{15E8396C-3E75-168A-523C-364B8008E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0189539" y="5409580"/>
              <a:ext cx="588538" cy="635466"/>
            </a:xfrm>
            <a:prstGeom prst="rect">
              <a:avLst/>
            </a:prstGeom>
          </p:spPr>
        </p:pic>
        <p:sp>
          <p:nvSpPr>
            <p:cNvPr id="47" name="内容占位符 2">
              <a:extLst>
                <a:ext uri="{FF2B5EF4-FFF2-40B4-BE49-F238E27FC236}">
                  <a16:creationId xmlns:a16="http://schemas.microsoft.com/office/drawing/2014/main" id="{18D8B556-AA8B-7D8A-4417-7EE95E325ACD}"/>
                </a:ext>
              </a:extLst>
            </p:cNvPr>
            <p:cNvSpPr txBox="1"/>
            <p:nvPr/>
          </p:nvSpPr>
          <p:spPr>
            <a:xfrm>
              <a:off x="10325790" y="6001548"/>
              <a:ext cx="399360" cy="2614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CN" sz="1100" b="1" dirty="0"/>
                <a:t>etc.</a:t>
              </a: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64B792D8-601E-E8EF-EF7C-E710B7632FB9}"/>
              </a:ext>
            </a:extLst>
          </p:cNvPr>
          <p:cNvSpPr txBox="1"/>
          <p:nvPr/>
        </p:nvSpPr>
        <p:spPr>
          <a:xfrm>
            <a:off x="496935" y="2582614"/>
            <a:ext cx="6300266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/>
              <a:t>Software transport faces bottlenecks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struggles to keep up with growing Ethernet bandwidth</a:t>
            </a:r>
          </a:p>
        </p:txBody>
      </p:sp>
      <p:pic>
        <p:nvPicPr>
          <p:cNvPr id="3076" name="Picture 4" descr="什么是超大型数据中心？ | Vertiv 文章">
            <a:extLst>
              <a:ext uri="{FF2B5EF4-FFF2-40B4-BE49-F238E27FC236}">
                <a16:creationId xmlns:a16="http://schemas.microsoft.com/office/drawing/2014/main" id="{44B54398-A10A-3D5A-8953-426B575288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6" r="13123"/>
          <a:stretch>
            <a:fillRect/>
          </a:stretch>
        </p:blipFill>
        <p:spPr bwMode="auto">
          <a:xfrm>
            <a:off x="1481905" y="4622701"/>
            <a:ext cx="3859420" cy="161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0CE05666-BD6F-CA63-242B-1B79F8BE8D46}"/>
              </a:ext>
            </a:extLst>
          </p:cNvPr>
          <p:cNvSpPr txBox="1"/>
          <p:nvPr/>
        </p:nvSpPr>
        <p:spPr>
          <a:xfrm>
            <a:off x="500533" y="3661067"/>
            <a:ext cx="6300266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/>
              <a:t>RDMA offers promising performance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</a:rPr>
              <a:t>High bandwidth, low CPU overhead</a:t>
            </a:r>
            <a:endParaRPr lang="en-US" altLang="zh-CN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4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C8EE-4B60-C7FA-B7B3-332FA1DC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6DA8F87-417B-BAE6-6EBB-2724FE2A6E5C}"/>
              </a:ext>
            </a:extLst>
          </p:cNvPr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2448F0-436E-5660-B96E-0207DA81EA5F}"/>
              </a:ext>
            </a:extLst>
          </p:cNvPr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62B492-F430-1818-6A7B-AD82611B9C37}"/>
              </a:ext>
            </a:extLst>
          </p:cNvPr>
          <p:cNvSpPr txBox="1"/>
          <p:nvPr/>
        </p:nvSpPr>
        <p:spPr>
          <a:xfrm>
            <a:off x="601980" y="324485"/>
            <a:ext cx="935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Hard to Deploy RDMA in Wide Area Networks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58B6CE0-DA31-16EF-3307-469AC0D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56C4303-6B37-29B5-E2E2-1924C8B98200}"/>
              </a:ext>
            </a:extLst>
          </p:cNvPr>
          <p:cNvSpPr txBox="1"/>
          <p:nvPr/>
        </p:nvSpPr>
        <p:spPr>
          <a:xfrm>
            <a:off x="6629887" y="1390497"/>
            <a:ext cx="4293755" cy="565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Hard to maintain a lossless WAN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CC5804F-29B9-9591-A7F9-9E054A9A7184}"/>
              </a:ext>
            </a:extLst>
          </p:cNvPr>
          <p:cNvSpPr txBox="1"/>
          <p:nvPr/>
        </p:nvSpPr>
        <p:spPr>
          <a:xfrm>
            <a:off x="479426" y="1373233"/>
            <a:ext cx="4835178" cy="565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RDMA is vulnerable to packet loss</a:t>
            </a:r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0E4790A5-DE4D-2360-2EF4-14744FBC53A2}"/>
              </a:ext>
            </a:extLst>
          </p:cNvPr>
          <p:cNvSpPr/>
          <p:nvPr/>
        </p:nvSpPr>
        <p:spPr>
          <a:xfrm>
            <a:off x="5061098" y="1296686"/>
            <a:ext cx="1447800" cy="565150"/>
          </a:xfrm>
          <a:prstGeom prst="leftRightArrow">
            <a:avLst>
              <a:gd name="adj1" fmla="val 62257"/>
              <a:gd name="adj2" fmla="val 50000"/>
            </a:avLst>
          </a:prstGeom>
          <a:solidFill>
            <a:srgbClr val="1F4E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while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1EA84C-74C0-EC98-4403-6645FAD82643}"/>
              </a:ext>
            </a:extLst>
          </p:cNvPr>
          <p:cNvSpPr txBox="1"/>
          <p:nvPr/>
        </p:nvSpPr>
        <p:spPr>
          <a:xfrm>
            <a:off x="824143" y="2071571"/>
            <a:ext cx="38362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Packet loss is inevitable in WAN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>
                    <a:lumMod val="75000"/>
                  </a:schemeClr>
                </a:solidFill>
              </a:rPr>
              <a:t>Congestion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Random</a:t>
            </a:r>
            <a:r>
              <a:rPr lang="en-US" altLang="zh-CN" sz="1800" dirty="0">
                <a:solidFill>
                  <a:schemeClr val="tx1">
                    <a:lumMod val="75000"/>
                  </a:schemeClr>
                </a:solidFill>
              </a:rPr>
              <a:t> loss</a:t>
            </a:r>
            <a:endParaRPr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1DE2A89-AF12-190F-3B60-303E4A1EAACB}"/>
              </a:ext>
            </a:extLst>
          </p:cNvPr>
          <p:cNvSpPr txBox="1"/>
          <p:nvPr/>
        </p:nvSpPr>
        <p:spPr>
          <a:xfrm>
            <a:off x="824143" y="3313831"/>
            <a:ext cx="4202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Large RTT (&amp; BDP) worsens go-back-N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>
                    <a:lumMod val="75000"/>
                  </a:schemeClr>
                </a:solidFill>
              </a:rPr>
              <a:t>Large feedback delay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Excessive </a:t>
            </a:r>
            <a:r>
              <a:rPr lang="en-US" altLang="zh-CN" dirty="0"/>
              <a:t>spurious retransmissions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839F344-E7A3-16EB-2E5F-ACC294DE0F53}"/>
              </a:ext>
            </a:extLst>
          </p:cNvPr>
          <p:cNvSpPr txBox="1"/>
          <p:nvPr/>
        </p:nvSpPr>
        <p:spPr>
          <a:xfrm>
            <a:off x="6886411" y="1967707"/>
            <a:ext cx="452750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PFC is unsuitable in WAN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Large headroom required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Need network-wide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Incompatible with CUBIC-like CC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B976963-6500-1719-FD61-C3287EB6CAD5}"/>
              </a:ext>
            </a:extLst>
          </p:cNvPr>
          <p:cNvSpPr txBox="1"/>
          <p:nvPr/>
        </p:nvSpPr>
        <p:spPr>
          <a:xfrm>
            <a:off x="6886411" y="3367608"/>
            <a:ext cx="46133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Dedicated devices is costly &amp; hard to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Need infrastructure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Low radix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0973E64-1263-B0D9-CA43-7E24CE4EE8C8}"/>
              </a:ext>
            </a:extLst>
          </p:cNvPr>
          <p:cNvSpPr txBox="1"/>
          <p:nvPr/>
        </p:nvSpPr>
        <p:spPr>
          <a:xfrm>
            <a:off x="797440" y="6602079"/>
            <a:ext cx="740734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900" dirty="0">
                <a:solidFill>
                  <a:srgbClr val="000000"/>
                </a:solidFill>
                <a:latin typeface="LinLibertineT"/>
              </a:rPr>
              <a:t>*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LinLibertineT"/>
              </a:rPr>
              <a:t> NVIDIA Metrox-3 XC Long-Haul InfiniBand. https://nvdam.widen.net/s/ggdj8tqdgf/infiniband-datasheet-metrox-3-xc-long-haul-2380143</a:t>
            </a:r>
            <a:endParaRPr lang="zh-CN" altLang="en-US" sz="2000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5712110A-5438-F00C-F573-39B448251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328" y="4407496"/>
            <a:ext cx="3075787" cy="182253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E738791B-2622-0F5C-54A9-5A47ADB8F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172" y="5265217"/>
            <a:ext cx="4785212" cy="935611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4D8F276F-D261-EE89-D0AD-A1C03125B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497" y="4492735"/>
            <a:ext cx="3880049" cy="768389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3B368D2E-7800-6D06-5AB4-91412583F07F}"/>
              </a:ext>
            </a:extLst>
          </p:cNvPr>
          <p:cNvSpPr txBox="1"/>
          <p:nvPr/>
        </p:nvSpPr>
        <p:spPr>
          <a:xfrm>
            <a:off x="6303854" y="6255108"/>
            <a:ext cx="4984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NVIDIA MetroX-3 XC long haul system</a:t>
            </a:r>
            <a:r>
              <a:rPr lang="en-US" altLang="zh-CN" sz="1400" baseline="30000" dirty="0"/>
              <a:t>*</a:t>
            </a:r>
            <a:endParaRPr lang="zh-CN" altLang="en-US" sz="1400" baseline="30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1FF3767-870E-C2FB-339F-B90FC0250AE2}"/>
              </a:ext>
            </a:extLst>
          </p:cNvPr>
          <p:cNvSpPr txBox="1"/>
          <p:nvPr/>
        </p:nvSpPr>
        <p:spPr>
          <a:xfrm>
            <a:off x="433343" y="6255790"/>
            <a:ext cx="4984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RoCEv2 goodput over different distance &amp; loss rate</a:t>
            </a:r>
            <a:endParaRPr lang="zh-CN" altLang="en-US" sz="1400" dirty="0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01FCE04-4B52-6DAF-D5D1-9124E669D702}"/>
              </a:ext>
            </a:extLst>
          </p:cNvPr>
          <p:cNvSpPr/>
          <p:nvPr/>
        </p:nvSpPr>
        <p:spPr>
          <a:xfrm>
            <a:off x="822110" y="4375995"/>
            <a:ext cx="10521486" cy="2123523"/>
          </a:xfrm>
          <a:prstGeom prst="roundRect">
            <a:avLst/>
          </a:prstGeom>
          <a:solidFill>
            <a:schemeClr val="bg2">
              <a:lumMod val="90000"/>
              <a:alpha val="81000"/>
            </a:schemeClr>
          </a:solidFill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</a:rPr>
              <a:t>Reliability can be expensive and exclusive…</a:t>
            </a:r>
          </a:p>
          <a:p>
            <a:pPr algn="ctr"/>
            <a:r>
              <a:rPr lang="en-US" altLang="zh-CN" sz="3200" b="1" dirty="0">
                <a:solidFill>
                  <a:schemeClr val="tx1"/>
                </a:solidFill>
              </a:rPr>
              <a:t>Can RDMA support end-to-end loss-tolerant transport?</a:t>
            </a:r>
          </a:p>
        </p:txBody>
      </p:sp>
    </p:spTree>
    <p:extLst>
      <p:ext uri="{BB962C8B-B14F-4D97-AF65-F5344CB8AC3E}">
        <p14:creationId xmlns:p14="http://schemas.microsoft.com/office/powerpoint/2010/main" val="230781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BD8E-7188-B4E2-CC23-0F15C551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DCEB0E6-67CA-C3FB-9E3F-14286435C076}"/>
              </a:ext>
            </a:extLst>
          </p:cNvPr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4BC772-4E73-2795-0A47-4BD777AE13BD}"/>
              </a:ext>
            </a:extLst>
          </p:cNvPr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D25147-28F3-8700-C5FD-0B421BBB13B1}"/>
              </a:ext>
            </a:extLst>
          </p:cNvPr>
          <p:cNvSpPr txBox="1"/>
          <p:nvPr/>
        </p:nvSpPr>
        <p:spPr>
          <a:xfrm>
            <a:off x="601980" y="322495"/>
            <a:ext cx="91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Revisit Selective Retransmission (SR)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6E791A2-4799-053B-4828-E908DF2E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A6400222-7641-79E2-3F2A-D0420B8B892D}"/>
              </a:ext>
            </a:extLst>
          </p:cNvPr>
          <p:cNvSpPr txBox="1"/>
          <p:nvPr/>
        </p:nvSpPr>
        <p:spPr>
          <a:xfrm>
            <a:off x="7621821" y="5108912"/>
            <a:ext cx="5665127" cy="1247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1100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08EDFC4-E8A0-95CA-92C0-B4403B3C2F25}"/>
              </a:ext>
            </a:extLst>
          </p:cNvPr>
          <p:cNvSpPr txBox="1"/>
          <p:nvPr/>
        </p:nvSpPr>
        <p:spPr>
          <a:xfrm>
            <a:off x="479425" y="3795882"/>
            <a:ext cx="10874375" cy="2078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b="1" dirty="0"/>
              <a:t>Limitations of existing bitmap designs under large RTT &amp; BDP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i="1" dirty="0">
                <a:solidFill>
                  <a:srgbClr val="1F4E79"/>
                </a:solidFill>
              </a:rPr>
              <a:t>Per-QP bitmap</a:t>
            </a:r>
            <a:r>
              <a:rPr lang="en-US" altLang="zh-CN" sz="2000" dirty="0"/>
              <a:t>: limited by RNIC SRAM capacity; falls back to GBN when exhausted.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i="1" dirty="0">
                <a:solidFill>
                  <a:srgbClr val="1F4E79"/>
                </a:solidFill>
              </a:rPr>
              <a:t>Shared bitmap pool</a:t>
            </a:r>
            <a:r>
              <a:rPr lang="en-US" altLang="zh-CN" sz="2000" dirty="0"/>
              <a:t>: hard to support QP Context swapping, limiting QP scalability.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i="1" dirty="0">
                <a:solidFill>
                  <a:srgbClr val="1F4E79"/>
                </a:solidFill>
              </a:rPr>
              <a:t>Host-side bitmap</a:t>
            </a:r>
            <a:r>
              <a:rPr lang="en-US" altLang="zh-CN" sz="2000" dirty="0"/>
              <a:t>: handle out-of-order (which dominate in WAN) in host; got CPU bottleneck.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0B2B174-714D-2EB2-52F9-C3B9A145372C}"/>
              </a:ext>
            </a:extLst>
          </p:cNvPr>
          <p:cNvSpPr txBox="1"/>
          <p:nvPr/>
        </p:nvSpPr>
        <p:spPr>
          <a:xfrm>
            <a:off x="533522" y="1439778"/>
            <a:ext cx="10771129" cy="1190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b="1" dirty="0"/>
              <a:t>SR: RDMA tracks packet arrival with </a:t>
            </a:r>
            <a:r>
              <a:rPr lang="en-US" altLang="zh-CN" b="1" i="1" dirty="0">
                <a:solidFill>
                  <a:srgbClr val="1F4E79"/>
                </a:solidFill>
              </a:rPr>
              <a:t>bitmap</a:t>
            </a:r>
            <a:r>
              <a:rPr lang="en-US" altLang="zh-CN" b="1" dirty="0"/>
              <a:t> </a:t>
            </a:r>
            <a:r>
              <a:rPr lang="en-US" altLang="zh-CN" b="1" i="1" dirty="0">
                <a:solidFill>
                  <a:srgbClr val="1F4E79"/>
                </a:solidFill>
              </a:rPr>
              <a:t>window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dirty="0"/>
              <a:t>Window size constrains </a:t>
            </a:r>
            <a:r>
              <a:rPr lang="en-US" altLang="zh-CN" sz="2000" dirty="0">
                <a:solidFill>
                  <a:srgbClr val="1F4E79"/>
                </a:solidFill>
              </a:rPr>
              <a:t>in flight packet count </a:t>
            </a:r>
            <a:r>
              <a:rPr lang="en-US" altLang="zh-CN" sz="2000" dirty="0"/>
              <a:t>and </a:t>
            </a:r>
            <a:r>
              <a:rPr lang="en-US" altLang="zh-CN" sz="2000" dirty="0">
                <a:solidFill>
                  <a:srgbClr val="1F4E79"/>
                </a:solidFill>
              </a:rPr>
              <a:t>throughput</a:t>
            </a:r>
            <a:r>
              <a:rPr lang="en-US" altLang="zh-CN" sz="2000" dirty="0"/>
              <a:t>.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0957061-4330-7037-22A4-9F586C0B5DBF}"/>
              </a:ext>
            </a:extLst>
          </p:cNvPr>
          <p:cNvSpPr/>
          <p:nvPr/>
        </p:nvSpPr>
        <p:spPr>
          <a:xfrm>
            <a:off x="1752600" y="5846860"/>
            <a:ext cx="8787473" cy="5710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How to </a:t>
            </a:r>
            <a:r>
              <a:rPr lang="en-US" altLang="zh-CN" sz="2400" b="1" dirty="0">
                <a:solidFill>
                  <a:prstClr val="black"/>
                </a:solidFill>
                <a:latin typeface="Calibri" panose="020F0502020204030204"/>
                <a:ea typeface="微软雅黑" panose="020B0503020204020204" charset="-122"/>
              </a:rPr>
              <a:t>scale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  <a:ea typeface="微软雅黑" panose="020B0503020204020204" charset="-122"/>
              </a:rPr>
              <a:t>the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reorder window without sacrificing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 scalability?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pic>
        <p:nvPicPr>
          <p:cNvPr id="15" name="图形 14">
            <a:extLst>
              <a:ext uri="{FF2B5EF4-FFF2-40B4-BE49-F238E27FC236}">
                <a16:creationId xmlns:a16="http://schemas.microsoft.com/office/drawing/2014/main" id="{397FF833-BF02-37C1-1AD5-9B3755082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4551" y="5640233"/>
            <a:ext cx="571043" cy="571043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B3132939-D124-06FA-4045-FA13D072CAB7}"/>
              </a:ext>
            </a:extLst>
          </p:cNvPr>
          <p:cNvGrpSpPr/>
          <p:nvPr/>
        </p:nvGrpSpPr>
        <p:grpSpPr>
          <a:xfrm>
            <a:off x="3757930" y="2442666"/>
            <a:ext cx="4500014" cy="1098716"/>
            <a:chOff x="3503930" y="2608436"/>
            <a:chExt cx="4500014" cy="1098716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46C4211-8CF9-697C-57A9-E4013EE24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03930" y="2608436"/>
              <a:ext cx="4425206" cy="963018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EA45070B-41B8-E0BB-11C9-764958106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82368" y="3242938"/>
              <a:ext cx="1021576" cy="4642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093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1980" y="324485"/>
            <a:ext cx="1061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Observation #1: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 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Concentrated Packet Drops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" name="内容占位符 2"/>
          <p:cNvSpPr txBox="1"/>
          <p:nvPr/>
        </p:nvSpPr>
        <p:spPr>
          <a:xfrm>
            <a:off x="626939" y="1178024"/>
            <a:ext cx="10683850" cy="1409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endParaRPr lang="en-US" altLang="zh-CN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7C60A7-1FCE-B93E-73C5-1805633A0C4D}"/>
              </a:ext>
            </a:extLst>
          </p:cNvPr>
          <p:cNvGrpSpPr/>
          <p:nvPr/>
        </p:nvGrpSpPr>
        <p:grpSpPr>
          <a:xfrm>
            <a:off x="6568265" y="3521379"/>
            <a:ext cx="3815717" cy="1633154"/>
            <a:chOff x="6883758" y="2989844"/>
            <a:chExt cx="5008469" cy="2522083"/>
          </a:xfrm>
        </p:grpSpPr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5DFA3BD-9F61-6384-0E7B-EBF41DE5501B}"/>
                </a:ext>
              </a:extLst>
            </p:cNvPr>
            <p:cNvCxnSpPr/>
            <p:nvPr/>
          </p:nvCxnSpPr>
          <p:spPr>
            <a:xfrm>
              <a:off x="6883758" y="5080715"/>
              <a:ext cx="4720107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7905D9CA-2761-D398-7DB3-F4BF5C2C2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6158" y="3174642"/>
              <a:ext cx="0" cy="205847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内容占位符 2">
              <a:extLst>
                <a:ext uri="{FF2B5EF4-FFF2-40B4-BE49-F238E27FC236}">
                  <a16:creationId xmlns:a16="http://schemas.microsoft.com/office/drawing/2014/main" id="{0A809136-7AB1-67EC-73C6-C7BC531A28D0}"/>
                </a:ext>
              </a:extLst>
            </p:cNvPr>
            <p:cNvSpPr txBox="1"/>
            <p:nvPr/>
          </p:nvSpPr>
          <p:spPr>
            <a:xfrm>
              <a:off x="7036157" y="3066210"/>
              <a:ext cx="1762925" cy="55964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600" dirty="0"/>
                <a:t>throughput</a:t>
              </a:r>
            </a:p>
          </p:txBody>
        </p:sp>
        <p:sp>
          <p:nvSpPr>
            <p:cNvPr id="13" name="内容占位符 2">
              <a:extLst>
                <a:ext uri="{FF2B5EF4-FFF2-40B4-BE49-F238E27FC236}">
                  <a16:creationId xmlns:a16="http://schemas.microsoft.com/office/drawing/2014/main" id="{1F1B2D62-E7DD-F092-1985-75AFA4137E72}"/>
                </a:ext>
              </a:extLst>
            </p:cNvPr>
            <p:cNvSpPr txBox="1"/>
            <p:nvPr/>
          </p:nvSpPr>
          <p:spPr>
            <a:xfrm>
              <a:off x="11070008" y="4652759"/>
              <a:ext cx="788961" cy="55964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600" dirty="0"/>
                <a:t>time</a:t>
              </a: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88D021F5-1F0D-AE57-2DC0-74EEC9312F9C}"/>
                </a:ext>
              </a:extLst>
            </p:cNvPr>
            <p:cNvCxnSpPr/>
            <p:nvPr/>
          </p:nvCxnSpPr>
          <p:spPr>
            <a:xfrm>
              <a:off x="7036158" y="3695700"/>
              <a:ext cx="3911242" cy="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内容占位符 2">
              <a:extLst>
                <a:ext uri="{FF2B5EF4-FFF2-40B4-BE49-F238E27FC236}">
                  <a16:creationId xmlns:a16="http://schemas.microsoft.com/office/drawing/2014/main" id="{2D607F32-DD56-F3B9-E27A-8A00A0D1D567}"/>
                </a:ext>
              </a:extLst>
            </p:cNvPr>
            <p:cNvSpPr txBox="1"/>
            <p:nvPr/>
          </p:nvSpPr>
          <p:spPr>
            <a:xfrm>
              <a:off x="10453152" y="2989844"/>
              <a:ext cx="1439075" cy="8216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</a:pPr>
              <a:r>
                <a:rPr lang="en-US" altLang="zh-CN" sz="1600" dirty="0"/>
                <a:t>Network</a:t>
              </a:r>
            </a:p>
            <a:p>
              <a:pPr algn="l">
                <a:spcBef>
                  <a:spcPts val="0"/>
                </a:spcBef>
              </a:pPr>
              <a:r>
                <a:rPr lang="en-US" altLang="zh-CN" sz="1600" dirty="0"/>
                <a:t>capacity</a:t>
              </a:r>
            </a:p>
          </p:txBody>
        </p:sp>
        <p:sp>
          <p:nvSpPr>
            <p:cNvPr id="17" name="内容占位符 2">
              <a:extLst>
                <a:ext uri="{FF2B5EF4-FFF2-40B4-BE49-F238E27FC236}">
                  <a16:creationId xmlns:a16="http://schemas.microsoft.com/office/drawing/2014/main" id="{2D92C95A-70F0-2B34-0A3C-AD45D627BE81}"/>
                </a:ext>
              </a:extLst>
            </p:cNvPr>
            <p:cNvSpPr txBox="1"/>
            <p:nvPr/>
          </p:nvSpPr>
          <p:spPr>
            <a:xfrm>
              <a:off x="7963079" y="4452511"/>
              <a:ext cx="2575725" cy="37870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</a:pPr>
              <a:r>
                <a:rPr lang="en-US" altLang="zh-CN" sz="1600" dirty="0"/>
                <a:t>Congestion losses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9BEEF78-804E-B304-5776-86BD40B3B2CD}"/>
                </a:ext>
              </a:extLst>
            </p:cNvPr>
            <p:cNvCxnSpPr/>
            <p:nvPr/>
          </p:nvCxnSpPr>
          <p:spPr>
            <a:xfrm flipV="1">
              <a:off x="7036158" y="3575050"/>
              <a:ext cx="933092" cy="5842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AEC8935-5097-0AB3-111F-F9F060E4EB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5450" y="3604253"/>
              <a:ext cx="855470" cy="39868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2390D2A-9FF3-41BA-4822-8A5A979E46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63079" y="3582549"/>
              <a:ext cx="82371" cy="42039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EA30B59F-5009-77A7-7CE3-DD0D73E99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3975" y="3604253"/>
              <a:ext cx="855470" cy="39868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96F9CB2-F1E0-ECA0-6800-D99D0564BD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11604" y="3582549"/>
              <a:ext cx="82371" cy="42039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3DF9322-A710-826A-A6C9-741269AEFF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2500" y="3805081"/>
              <a:ext cx="535980" cy="21039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71AA22A-9C58-4511-CC7B-54A8A3F0B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60129" y="3595080"/>
              <a:ext cx="82371" cy="42039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EC597B0A-065A-B91D-7126-EED986985E6A}"/>
                </a:ext>
              </a:extLst>
            </p:cNvPr>
            <p:cNvSpPr/>
            <p:nvPr/>
          </p:nvSpPr>
          <p:spPr>
            <a:xfrm>
              <a:off x="7887677" y="3498850"/>
              <a:ext cx="124855" cy="14604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5AC4519A-BE22-C61B-97C2-23EDD1EDC67A}"/>
                </a:ext>
              </a:extLst>
            </p:cNvPr>
            <p:cNvSpPr/>
            <p:nvPr/>
          </p:nvSpPr>
          <p:spPr>
            <a:xfrm>
              <a:off x="8827554" y="3505200"/>
              <a:ext cx="124855" cy="14604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5534F498-0833-FADE-F86F-6A11E2772858}"/>
                </a:ext>
              </a:extLst>
            </p:cNvPr>
            <p:cNvSpPr/>
            <p:nvPr/>
          </p:nvSpPr>
          <p:spPr>
            <a:xfrm>
              <a:off x="9786766" y="3507677"/>
              <a:ext cx="124855" cy="14604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0F1218E9-602D-0590-6610-1E165B785FDA}"/>
                </a:ext>
              </a:extLst>
            </p:cNvPr>
            <p:cNvCxnSpPr>
              <a:cxnSpLocks/>
              <a:endCxn id="31" idx="5"/>
            </p:cNvCxnSpPr>
            <p:nvPr/>
          </p:nvCxnSpPr>
          <p:spPr>
            <a:xfrm flipH="1" flipV="1">
              <a:off x="7994248" y="3623511"/>
              <a:ext cx="936312" cy="877368"/>
            </a:xfrm>
            <a:prstGeom prst="straightConnector1">
              <a:avLst/>
            </a:prstGeom>
            <a:ln w="952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A5069866-E27F-CFA3-F504-7DDA5E5691E3}"/>
                </a:ext>
              </a:extLst>
            </p:cNvPr>
            <p:cNvCxnSpPr>
              <a:cxnSpLocks/>
              <a:endCxn id="34" idx="4"/>
            </p:cNvCxnSpPr>
            <p:nvPr/>
          </p:nvCxnSpPr>
          <p:spPr>
            <a:xfrm flipH="1" flipV="1">
              <a:off x="8889982" y="3651250"/>
              <a:ext cx="29893" cy="849630"/>
            </a:xfrm>
            <a:prstGeom prst="straightConnector1">
              <a:avLst/>
            </a:prstGeom>
            <a:ln w="952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A29B50B3-0A5C-7ED2-2390-48BFDED02441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V="1">
              <a:off x="8919583" y="3632338"/>
              <a:ext cx="885467" cy="868543"/>
            </a:xfrm>
            <a:prstGeom prst="straightConnector1">
              <a:avLst/>
            </a:prstGeom>
            <a:ln w="952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内容占位符 2">
              <a:extLst>
                <a:ext uri="{FF2B5EF4-FFF2-40B4-BE49-F238E27FC236}">
                  <a16:creationId xmlns:a16="http://schemas.microsoft.com/office/drawing/2014/main" id="{D21E3194-B4C7-B1EA-7A35-5398D4BE3408}"/>
                </a:ext>
              </a:extLst>
            </p:cNvPr>
            <p:cNvSpPr txBox="1"/>
            <p:nvPr/>
          </p:nvSpPr>
          <p:spPr>
            <a:xfrm>
              <a:off x="7325589" y="5133224"/>
              <a:ext cx="3894860" cy="3787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</a:pPr>
              <a:r>
                <a:rPr lang="en-US" altLang="zh-CN" sz="1600" dirty="0"/>
                <a:t>Congestion control’s AIMD policy</a:t>
              </a: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BE93E463-60BF-C694-84D9-F6AC671AA8FA}"/>
              </a:ext>
            </a:extLst>
          </p:cNvPr>
          <p:cNvGrpSpPr/>
          <p:nvPr/>
        </p:nvGrpSpPr>
        <p:grpSpPr>
          <a:xfrm>
            <a:off x="1834276" y="3539043"/>
            <a:ext cx="3693472" cy="1555143"/>
            <a:chOff x="1035139" y="4183940"/>
            <a:chExt cx="4179007" cy="2168320"/>
          </a:xfrm>
        </p:grpSpPr>
        <p:pic>
          <p:nvPicPr>
            <p:cNvPr id="51" name="图形 50">
              <a:extLst>
                <a:ext uri="{FF2B5EF4-FFF2-40B4-BE49-F238E27FC236}">
                  <a16:creationId xmlns:a16="http://schemas.microsoft.com/office/drawing/2014/main" id="{7DC8E0FB-6435-8B81-4666-7F2DEFFFE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5140" y="4183940"/>
              <a:ext cx="685263" cy="685263"/>
            </a:xfrm>
            <a:prstGeom prst="rect">
              <a:avLst/>
            </a:prstGeom>
          </p:spPr>
        </p:pic>
        <p:pic>
          <p:nvPicPr>
            <p:cNvPr id="52" name="图形 51">
              <a:extLst>
                <a:ext uri="{FF2B5EF4-FFF2-40B4-BE49-F238E27FC236}">
                  <a16:creationId xmlns:a16="http://schemas.microsoft.com/office/drawing/2014/main" id="{2D787D40-7084-629F-B177-63C2016A8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5139" y="5497989"/>
              <a:ext cx="685263" cy="685263"/>
            </a:xfrm>
            <a:prstGeom prst="rect">
              <a:avLst/>
            </a:prstGeom>
          </p:spPr>
        </p:pic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9B7FB27-D999-3C7F-D05E-9BE703EF63F1}"/>
                </a:ext>
              </a:extLst>
            </p:cNvPr>
            <p:cNvCxnSpPr>
              <a:cxnSpLocks/>
            </p:cNvCxnSpPr>
            <p:nvPr/>
          </p:nvCxnSpPr>
          <p:spPr>
            <a:xfrm>
              <a:off x="2757141" y="5067949"/>
              <a:ext cx="103103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ACCEC92F-2B08-3795-5BF6-CDC51354AAFA}"/>
                </a:ext>
              </a:extLst>
            </p:cNvPr>
            <p:cNvCxnSpPr>
              <a:cxnSpLocks/>
            </p:cNvCxnSpPr>
            <p:nvPr/>
          </p:nvCxnSpPr>
          <p:spPr>
            <a:xfrm>
              <a:off x="2757141" y="5330399"/>
              <a:ext cx="103103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19D006F6-41B2-1541-1275-03F446C8B83B}"/>
                </a:ext>
              </a:extLst>
            </p:cNvPr>
            <p:cNvCxnSpPr>
              <a:cxnSpLocks/>
            </p:cNvCxnSpPr>
            <p:nvPr/>
          </p:nvCxnSpPr>
          <p:spPr>
            <a:xfrm>
              <a:off x="3788177" y="5067949"/>
              <a:ext cx="0" cy="2624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图形 58">
              <a:extLst>
                <a:ext uri="{FF2B5EF4-FFF2-40B4-BE49-F238E27FC236}">
                  <a16:creationId xmlns:a16="http://schemas.microsoft.com/office/drawing/2014/main" id="{1117838B-0E30-4BE0-009A-90A0C47DC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28883" y="4856542"/>
              <a:ext cx="685263" cy="685263"/>
            </a:xfrm>
            <a:prstGeom prst="rect">
              <a:avLst/>
            </a:prstGeom>
          </p:spPr>
        </p:pic>
        <p:sp>
          <p:nvSpPr>
            <p:cNvPr id="60" name="箭头: 虚尾 59">
              <a:extLst>
                <a:ext uri="{FF2B5EF4-FFF2-40B4-BE49-F238E27FC236}">
                  <a16:creationId xmlns:a16="http://schemas.microsoft.com/office/drawing/2014/main" id="{3ADDF2CB-C410-D454-02E1-7055DAC75048}"/>
                </a:ext>
              </a:extLst>
            </p:cNvPr>
            <p:cNvSpPr/>
            <p:nvPr/>
          </p:nvSpPr>
          <p:spPr>
            <a:xfrm rot="1569231">
              <a:off x="1716772" y="4841291"/>
              <a:ext cx="448731" cy="165321"/>
            </a:xfrm>
            <a:prstGeom prst="stripedRightArrow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1" name="箭头: 虚尾 60">
              <a:extLst>
                <a:ext uri="{FF2B5EF4-FFF2-40B4-BE49-F238E27FC236}">
                  <a16:creationId xmlns:a16="http://schemas.microsoft.com/office/drawing/2014/main" id="{15FA222C-9ECF-0370-030F-5CE5A3BD004B}"/>
                </a:ext>
              </a:extLst>
            </p:cNvPr>
            <p:cNvSpPr/>
            <p:nvPr/>
          </p:nvSpPr>
          <p:spPr>
            <a:xfrm rot="20223330">
              <a:off x="1718833" y="5405817"/>
              <a:ext cx="448731" cy="165321"/>
            </a:xfrm>
            <a:prstGeom prst="stripedRightArrow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7C54C63F-A531-520F-9CBC-886A08DC385E}"/>
                </a:ext>
              </a:extLst>
            </p:cNvPr>
            <p:cNvSpPr/>
            <p:nvPr/>
          </p:nvSpPr>
          <p:spPr>
            <a:xfrm>
              <a:off x="3640667" y="5139267"/>
              <a:ext cx="88098" cy="1227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E452AA9-C5B1-41C7-CAE9-17E9275733A9}"/>
                </a:ext>
              </a:extLst>
            </p:cNvPr>
            <p:cNvSpPr/>
            <p:nvPr/>
          </p:nvSpPr>
          <p:spPr>
            <a:xfrm>
              <a:off x="3502371" y="5139267"/>
              <a:ext cx="88098" cy="1227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63F633BB-BB35-03AA-0848-0C04D5BFB541}"/>
                </a:ext>
              </a:extLst>
            </p:cNvPr>
            <p:cNvSpPr/>
            <p:nvPr/>
          </p:nvSpPr>
          <p:spPr>
            <a:xfrm>
              <a:off x="3352508" y="5139267"/>
              <a:ext cx="88098" cy="122766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ADC77C1C-7D9E-BCB0-55DF-C5B7A8186943}"/>
                </a:ext>
              </a:extLst>
            </p:cNvPr>
            <p:cNvSpPr/>
            <p:nvPr/>
          </p:nvSpPr>
          <p:spPr>
            <a:xfrm>
              <a:off x="2599730" y="5140671"/>
              <a:ext cx="88098" cy="1227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4AEE640-705E-26F6-886B-39EC6BC5156C}"/>
                </a:ext>
              </a:extLst>
            </p:cNvPr>
            <p:cNvSpPr/>
            <p:nvPr/>
          </p:nvSpPr>
          <p:spPr>
            <a:xfrm>
              <a:off x="3196762" y="5139267"/>
              <a:ext cx="88098" cy="122766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79208106-40FA-C3EE-8C7E-4CABEBC0059E}"/>
                </a:ext>
              </a:extLst>
            </p:cNvPr>
            <p:cNvSpPr/>
            <p:nvPr/>
          </p:nvSpPr>
          <p:spPr>
            <a:xfrm>
              <a:off x="2895437" y="5139267"/>
              <a:ext cx="88098" cy="1227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04766F05-B546-E01C-5F33-ECD30B2CBCFB}"/>
                </a:ext>
              </a:extLst>
            </p:cNvPr>
            <p:cNvSpPr/>
            <p:nvPr/>
          </p:nvSpPr>
          <p:spPr>
            <a:xfrm>
              <a:off x="2757141" y="5139267"/>
              <a:ext cx="88098" cy="1227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90D1242A-FC46-886E-5E8B-817CDA1C77B1}"/>
                </a:ext>
              </a:extLst>
            </p:cNvPr>
            <p:cNvSpPr/>
            <p:nvPr/>
          </p:nvSpPr>
          <p:spPr>
            <a:xfrm>
              <a:off x="3045066" y="5138552"/>
              <a:ext cx="88098" cy="122766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2F28743-E6E1-832A-158D-AE7C76E54926}"/>
                </a:ext>
              </a:extLst>
            </p:cNvPr>
            <p:cNvSpPr/>
            <p:nvPr/>
          </p:nvSpPr>
          <p:spPr>
            <a:xfrm>
              <a:off x="2452910" y="5139267"/>
              <a:ext cx="88098" cy="1227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3" name="乘号 72">
              <a:extLst>
                <a:ext uri="{FF2B5EF4-FFF2-40B4-BE49-F238E27FC236}">
                  <a16:creationId xmlns:a16="http://schemas.microsoft.com/office/drawing/2014/main" id="{A5B2217D-6847-5ECA-657E-460C368072F2}"/>
                </a:ext>
              </a:extLst>
            </p:cNvPr>
            <p:cNvSpPr/>
            <p:nvPr/>
          </p:nvSpPr>
          <p:spPr>
            <a:xfrm>
              <a:off x="2478958" y="5214075"/>
              <a:ext cx="88089" cy="94486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74" name="乘号 73">
              <a:extLst>
                <a:ext uri="{FF2B5EF4-FFF2-40B4-BE49-F238E27FC236}">
                  <a16:creationId xmlns:a16="http://schemas.microsoft.com/office/drawing/2014/main" id="{FD28304C-8159-EDB5-3073-AED228BF3715}"/>
                </a:ext>
              </a:extLst>
            </p:cNvPr>
            <p:cNvSpPr/>
            <p:nvPr/>
          </p:nvSpPr>
          <p:spPr>
            <a:xfrm>
              <a:off x="2635759" y="5214075"/>
              <a:ext cx="88089" cy="94486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76" name="箭头: 虚尾 75">
              <a:extLst>
                <a:ext uri="{FF2B5EF4-FFF2-40B4-BE49-F238E27FC236}">
                  <a16:creationId xmlns:a16="http://schemas.microsoft.com/office/drawing/2014/main" id="{3562FD06-D86F-CC24-0A4D-7FD100605113}"/>
                </a:ext>
              </a:extLst>
            </p:cNvPr>
            <p:cNvSpPr/>
            <p:nvPr/>
          </p:nvSpPr>
          <p:spPr>
            <a:xfrm>
              <a:off x="4022090" y="5118755"/>
              <a:ext cx="448731" cy="165321"/>
            </a:xfrm>
            <a:prstGeom prst="stripedRight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9E4347E7-3A3A-EF9F-2230-4D6417A106FC}"/>
                </a:ext>
              </a:extLst>
            </p:cNvPr>
            <p:cNvCxnSpPr/>
            <p:nvPr/>
          </p:nvCxnSpPr>
          <p:spPr>
            <a:xfrm>
              <a:off x="1710862" y="5983591"/>
              <a:ext cx="2971800" cy="0"/>
            </a:xfrm>
            <a:prstGeom prst="straightConnector1">
              <a:avLst/>
            </a:prstGeom>
            <a:ln w="12700">
              <a:solidFill>
                <a:schemeClr val="bg2">
                  <a:lumMod val="25000"/>
                </a:schemeClr>
              </a:solidFill>
              <a:prstDash val="dash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内容占位符 2">
              <a:extLst>
                <a:ext uri="{FF2B5EF4-FFF2-40B4-BE49-F238E27FC236}">
                  <a16:creationId xmlns:a16="http://schemas.microsoft.com/office/drawing/2014/main" id="{55D5B81E-2EC0-2BC6-0B01-915E09EB3B1E}"/>
                </a:ext>
              </a:extLst>
            </p:cNvPr>
            <p:cNvSpPr txBox="1"/>
            <p:nvPr/>
          </p:nvSpPr>
          <p:spPr>
            <a:xfrm>
              <a:off x="2092456" y="6010344"/>
              <a:ext cx="2318935" cy="3419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</a:pPr>
              <a:r>
                <a:rPr lang="en-US" altLang="zh-CN" sz="1600" dirty="0"/>
                <a:t>Long feedback delay</a:t>
              </a:r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D60A4A58-E55C-54C8-1936-0EF7E799CC35}"/>
                </a:ext>
              </a:extLst>
            </p:cNvPr>
            <p:cNvSpPr/>
            <p:nvPr/>
          </p:nvSpPr>
          <p:spPr>
            <a:xfrm>
              <a:off x="1803400" y="4577263"/>
              <a:ext cx="2743200" cy="379970"/>
            </a:xfrm>
            <a:custGeom>
              <a:avLst/>
              <a:gdLst>
                <a:gd name="connsiteX0" fmla="*/ 0 w 2743200"/>
                <a:gd name="connsiteY0" fmla="*/ 7437 h 379970"/>
                <a:gd name="connsiteX1" fmla="*/ 1020233 w 2743200"/>
                <a:gd name="connsiteY1" fmla="*/ 11670 h 379970"/>
                <a:gd name="connsiteX2" fmla="*/ 1888067 w 2743200"/>
                <a:gd name="connsiteY2" fmla="*/ 117504 h 379970"/>
                <a:gd name="connsiteX3" fmla="*/ 2743200 w 2743200"/>
                <a:gd name="connsiteY3" fmla="*/ 379970 h 379970"/>
                <a:gd name="connsiteX4" fmla="*/ 2743200 w 2743200"/>
                <a:gd name="connsiteY4" fmla="*/ 379970 h 379970"/>
                <a:gd name="connsiteX5" fmla="*/ 2743200 w 2743200"/>
                <a:gd name="connsiteY5" fmla="*/ 379970 h 379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43200" h="379970">
                  <a:moveTo>
                    <a:pt x="0" y="7437"/>
                  </a:moveTo>
                  <a:cubicBezTo>
                    <a:pt x="352777" y="381"/>
                    <a:pt x="705555" y="-6675"/>
                    <a:pt x="1020233" y="11670"/>
                  </a:cubicBezTo>
                  <a:cubicBezTo>
                    <a:pt x="1334911" y="30015"/>
                    <a:pt x="1600906" y="56121"/>
                    <a:pt x="1888067" y="117504"/>
                  </a:cubicBezTo>
                  <a:cubicBezTo>
                    <a:pt x="2175228" y="178887"/>
                    <a:pt x="2743200" y="379970"/>
                    <a:pt x="2743200" y="379970"/>
                  </a:cubicBezTo>
                  <a:lnTo>
                    <a:pt x="2743200" y="379970"/>
                  </a:lnTo>
                  <a:lnTo>
                    <a:pt x="2743200" y="379970"/>
                  </a:lnTo>
                </a:path>
              </a:pathLst>
            </a:custGeom>
            <a:ln w="12700">
              <a:prstDash val="dashDot"/>
              <a:headEnd type="arrow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22D3C5AD-4A5E-5C03-5A5F-D768830BBF83}"/>
                </a:ext>
              </a:extLst>
            </p:cNvPr>
            <p:cNvSpPr/>
            <p:nvPr/>
          </p:nvSpPr>
          <p:spPr>
            <a:xfrm flipV="1">
              <a:off x="1859526" y="5413639"/>
              <a:ext cx="2674472" cy="446646"/>
            </a:xfrm>
            <a:custGeom>
              <a:avLst/>
              <a:gdLst>
                <a:gd name="connsiteX0" fmla="*/ 0 w 2743200"/>
                <a:gd name="connsiteY0" fmla="*/ 7437 h 379970"/>
                <a:gd name="connsiteX1" fmla="*/ 1020233 w 2743200"/>
                <a:gd name="connsiteY1" fmla="*/ 11670 h 379970"/>
                <a:gd name="connsiteX2" fmla="*/ 1888067 w 2743200"/>
                <a:gd name="connsiteY2" fmla="*/ 117504 h 379970"/>
                <a:gd name="connsiteX3" fmla="*/ 2743200 w 2743200"/>
                <a:gd name="connsiteY3" fmla="*/ 379970 h 379970"/>
                <a:gd name="connsiteX4" fmla="*/ 2743200 w 2743200"/>
                <a:gd name="connsiteY4" fmla="*/ 379970 h 379970"/>
                <a:gd name="connsiteX5" fmla="*/ 2743200 w 2743200"/>
                <a:gd name="connsiteY5" fmla="*/ 379970 h 379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43200" h="379970">
                  <a:moveTo>
                    <a:pt x="0" y="7437"/>
                  </a:moveTo>
                  <a:cubicBezTo>
                    <a:pt x="352777" y="381"/>
                    <a:pt x="705555" y="-6675"/>
                    <a:pt x="1020233" y="11670"/>
                  </a:cubicBezTo>
                  <a:cubicBezTo>
                    <a:pt x="1334911" y="30015"/>
                    <a:pt x="1600906" y="56121"/>
                    <a:pt x="1888067" y="117504"/>
                  </a:cubicBezTo>
                  <a:cubicBezTo>
                    <a:pt x="2175228" y="178887"/>
                    <a:pt x="2743200" y="379970"/>
                    <a:pt x="2743200" y="379970"/>
                  </a:cubicBezTo>
                  <a:lnTo>
                    <a:pt x="2743200" y="379970"/>
                  </a:lnTo>
                  <a:lnTo>
                    <a:pt x="2743200" y="379970"/>
                  </a:lnTo>
                </a:path>
              </a:pathLst>
            </a:custGeom>
            <a:ln w="12700">
              <a:prstDash val="dashDot"/>
              <a:headEnd type="arrow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90" name="内容占位符 2">
              <a:extLst>
                <a:ext uri="{FF2B5EF4-FFF2-40B4-BE49-F238E27FC236}">
                  <a16:creationId xmlns:a16="http://schemas.microsoft.com/office/drawing/2014/main" id="{BB96043F-D599-7B2A-649E-5D7405210A7F}"/>
                </a:ext>
              </a:extLst>
            </p:cNvPr>
            <p:cNvSpPr txBox="1"/>
            <p:nvPr/>
          </p:nvSpPr>
          <p:spPr>
            <a:xfrm>
              <a:off x="2085593" y="4295924"/>
              <a:ext cx="2661967" cy="3419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</a:pPr>
              <a:r>
                <a:rPr lang="en-US" altLang="zh-CN" sz="1600" dirty="0"/>
                <a:t>Loss / ACK / RTT / ECN / …</a:t>
              </a:r>
            </a:p>
          </p:txBody>
        </p:sp>
      </p:grp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C1C98EC-9923-FF3C-AE3B-CF0705ABE8DC}"/>
              </a:ext>
            </a:extLst>
          </p:cNvPr>
          <p:cNvSpPr txBox="1"/>
          <p:nvPr/>
        </p:nvSpPr>
        <p:spPr>
          <a:xfrm>
            <a:off x="669950" y="2041977"/>
            <a:ext cx="10683850" cy="1385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Tail drop in WAN is bursty and consecutive</a:t>
            </a:r>
            <a:endParaRPr lang="en-US" altLang="zh-CN" sz="2000" b="1" dirty="0"/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Large delay -&gt; untimely</a:t>
            </a:r>
            <a:r>
              <a:rPr lang="zh-CN" altLang="en-US" sz="2000" dirty="0"/>
              <a:t> </a:t>
            </a:r>
            <a:r>
              <a:rPr lang="en-US" altLang="zh-CN" sz="2000" dirty="0"/>
              <a:t>rate adjustment -&gt; buffer exhaustion -&gt; bursty (non-uniform) packet drop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For AIMD CCs:</a:t>
            </a:r>
            <a:r>
              <a:rPr lang="zh-CN" altLang="en-US" sz="2000" dirty="0"/>
              <a:t> </a:t>
            </a:r>
            <a:r>
              <a:rPr lang="en-US" altLang="zh-CN" sz="2000" dirty="0"/>
              <a:t>periodically packet drop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236A3F57-27A4-45D0-FE77-DD20B7773208}"/>
              </a:ext>
            </a:extLst>
          </p:cNvPr>
          <p:cNvSpPr txBox="1"/>
          <p:nvPr/>
        </p:nvSpPr>
        <p:spPr>
          <a:xfrm>
            <a:off x="3452112" y="6392822"/>
            <a:ext cx="4914596" cy="55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49C53C9-320C-393F-87D9-D75BBB1C7E48}"/>
              </a:ext>
            </a:extLst>
          </p:cNvPr>
          <p:cNvSpPr/>
          <p:nvPr/>
        </p:nvSpPr>
        <p:spPr>
          <a:xfrm>
            <a:off x="789457" y="5521576"/>
            <a:ext cx="10358814" cy="788100"/>
          </a:xfrm>
          <a:prstGeom prst="roundRect">
            <a:avLst/>
          </a:prstGeom>
          <a:solidFill>
            <a:schemeClr val="dk2">
              <a:tint val="95000"/>
              <a:satMod val="170000"/>
            </a:schemeClr>
          </a:solidFill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Record consecutive losses as a block to optimize space utilization</a:t>
            </a:r>
            <a:endParaRPr lang="zh-CN" altLang="en-US" sz="2800" b="1" dirty="0"/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D2C30435-41F0-3B13-636F-3BFF06D85751}"/>
              </a:ext>
            </a:extLst>
          </p:cNvPr>
          <p:cNvSpPr txBox="1"/>
          <p:nvPr/>
        </p:nvSpPr>
        <p:spPr>
          <a:xfrm>
            <a:off x="669950" y="1168624"/>
            <a:ext cx="10683850" cy="924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Large BDP requires scalable loss recording</a:t>
            </a:r>
            <a:endParaRPr lang="en-US" altLang="zh-CN" sz="2000" b="1" dirty="0"/>
          </a:p>
        </p:txBody>
      </p:sp>
      <p:pic>
        <p:nvPicPr>
          <p:cNvPr id="30" name="图形 29">
            <a:extLst>
              <a:ext uri="{FF2B5EF4-FFF2-40B4-BE49-F238E27FC236}">
                <a16:creationId xmlns:a16="http://schemas.microsoft.com/office/drawing/2014/main" id="{B2432845-73BF-FA7F-D248-E43C347308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5336" y="2041976"/>
            <a:ext cx="396905" cy="396905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5B80E20C-F4E1-A210-8F3A-2502139DFB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6563" y="1189600"/>
            <a:ext cx="396905" cy="396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98C1-FB31-F19E-E00C-4354ADCF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0F84C15-BD52-35AD-25C3-81A4FF86138C}"/>
              </a:ext>
            </a:extLst>
          </p:cNvPr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FFB512-DEE5-7B80-583D-563A1DB8D34B}"/>
              </a:ext>
            </a:extLst>
          </p:cNvPr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F3299C-05CE-BF4C-861F-674B5B8C3796}"/>
              </a:ext>
            </a:extLst>
          </p:cNvPr>
          <p:cNvSpPr txBox="1"/>
          <p:nvPr/>
        </p:nvSpPr>
        <p:spPr>
          <a:xfrm>
            <a:off x="601979" y="324485"/>
            <a:ext cx="11506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Observation #2: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 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Coupled Transmission and Retransmissions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A177458-A1ED-F03E-9516-5420C8A3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67E33BA-AECD-F0AF-B88F-DAC919B92E5F}"/>
              </a:ext>
            </a:extLst>
          </p:cNvPr>
          <p:cNvSpPr txBox="1"/>
          <p:nvPr/>
        </p:nvSpPr>
        <p:spPr>
          <a:xfrm>
            <a:off x="669949" y="1189600"/>
            <a:ext cx="11120147" cy="137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Reorder window must support random packet arrival efficiently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Coupling Tx and Re-Tx in a unified window requires the bitmap in SRAM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C535FB-4355-A257-9BC9-B296FB2D5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256" y="3792811"/>
            <a:ext cx="4820384" cy="1049018"/>
          </a:xfrm>
          <a:prstGeom prst="rect">
            <a:avLst/>
          </a:prstGeom>
        </p:spPr>
      </p:pic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4AD168D3-547D-941A-5E9F-5B6E95DDE53E}"/>
              </a:ext>
            </a:extLst>
          </p:cNvPr>
          <p:cNvSpPr txBox="1"/>
          <p:nvPr/>
        </p:nvSpPr>
        <p:spPr>
          <a:xfrm>
            <a:off x="669950" y="2359038"/>
            <a:ext cx="10683850" cy="1379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Every single tier of Tx or Re-Tx is sequential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NACKs and retransmitted packets are generated sequentially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Predictable packet arriving pattern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7A0268A-45E4-4808-5D41-BB3D01130058}"/>
              </a:ext>
            </a:extLst>
          </p:cNvPr>
          <p:cNvSpPr/>
          <p:nvPr/>
        </p:nvSpPr>
        <p:spPr>
          <a:xfrm>
            <a:off x="1313256" y="5294703"/>
            <a:ext cx="9565487" cy="1127198"/>
          </a:xfrm>
          <a:prstGeom prst="roundRect">
            <a:avLst/>
          </a:prstGeom>
          <a:solidFill>
            <a:schemeClr val="dk2">
              <a:tint val="95000"/>
              <a:satMod val="170000"/>
            </a:schemeClr>
          </a:solidFill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Decouple Tx and each Re-Tx</a:t>
            </a:r>
          </a:p>
          <a:p>
            <a:pPr algn="ctr"/>
            <a:r>
              <a:rPr lang="en-US" altLang="zh-CN" sz="2800" b="1" dirty="0"/>
              <a:t>leverage the predictable arrival pattern for offloading.</a:t>
            </a:r>
            <a:endParaRPr lang="zh-CN" altLang="en-US" sz="2800" b="1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79EB078D-99BB-597A-9233-26548BA01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818" y="3471819"/>
            <a:ext cx="3833564" cy="1411428"/>
          </a:xfrm>
          <a:prstGeom prst="rect">
            <a:avLst/>
          </a:prstGeom>
        </p:spPr>
      </p:pic>
      <p:pic>
        <p:nvPicPr>
          <p:cNvPr id="36" name="图形 35">
            <a:extLst>
              <a:ext uri="{FF2B5EF4-FFF2-40B4-BE49-F238E27FC236}">
                <a16:creationId xmlns:a16="http://schemas.microsoft.com/office/drawing/2014/main" id="{A0D32ED6-9700-D21F-524B-1F5768082D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563" y="2359038"/>
            <a:ext cx="396905" cy="396905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816762EC-666A-20CB-50CC-5EBAB9F797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6563" y="1189600"/>
            <a:ext cx="396905" cy="39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3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1980" y="324485"/>
            <a:ext cx="7181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OmniDMA Overview 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5981581" y="1680347"/>
            <a:ext cx="5160398" cy="184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Design 1: </a:t>
            </a:r>
            <a:r>
              <a:rPr lang="en-US" altLang="zh-CN" b="1" i="1" dirty="0" err="1">
                <a:solidFill>
                  <a:srgbClr val="1F4E79"/>
                </a:solidFill>
              </a:rPr>
              <a:t>Adamap</a:t>
            </a:r>
            <a:r>
              <a:rPr lang="en-US" altLang="zh-CN" b="1" dirty="0"/>
              <a:t> for loss recording 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Record consecutive loss segments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Support both precise and range recording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Fix-size design for easier scheduling</a:t>
            </a:r>
            <a:endParaRPr lang="zh-CN" altLang="en-US" sz="20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2CBD70-F430-3B5C-DCF9-9BDFDFB59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83" y="1868369"/>
            <a:ext cx="4132350" cy="364719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9368F7A-906B-FEBE-A310-E3E36878BCFE}"/>
              </a:ext>
            </a:extLst>
          </p:cNvPr>
          <p:cNvSpPr txBox="1"/>
          <p:nvPr/>
        </p:nvSpPr>
        <p:spPr>
          <a:xfrm>
            <a:off x="2568949" y="5725242"/>
            <a:ext cx="3412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Design overview</a:t>
            </a:r>
            <a:endParaRPr lang="zh-CN" altLang="en-US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0D409592-64E1-9155-8808-2B5C9E5911C0}"/>
              </a:ext>
            </a:extLst>
          </p:cNvPr>
          <p:cNvSpPr txBox="1"/>
          <p:nvPr/>
        </p:nvSpPr>
        <p:spPr>
          <a:xfrm>
            <a:off x="5981581" y="3922776"/>
            <a:ext cx="5329884" cy="2115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b="1" dirty="0"/>
              <a:t>Design 2: </a:t>
            </a:r>
            <a:r>
              <a:rPr lang="en-US" altLang="zh-CN" b="1" i="1" dirty="0">
                <a:solidFill>
                  <a:srgbClr val="1F4E79"/>
                </a:solidFill>
              </a:rPr>
              <a:t>3-tier</a:t>
            </a:r>
            <a:r>
              <a:rPr lang="en-US" altLang="zh-CN" b="1" dirty="0">
                <a:solidFill>
                  <a:srgbClr val="1F4E79"/>
                </a:solidFill>
              </a:rPr>
              <a:t> control </a:t>
            </a:r>
            <a:r>
              <a:rPr lang="en-US" altLang="zh-CN" b="1" dirty="0"/>
              <a:t>path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Decouple transmission and retransmission(s)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Transport-driven context scheduling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Constant (and small) RNIC memory footprint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endParaRPr lang="en-US" altLang="zh-CN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506EF-D9F1-0679-886A-81316A232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1B2960-655A-101C-8044-24C000A16F48}"/>
              </a:ext>
            </a:extLst>
          </p:cNvPr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90AC49-BD89-950F-5A7C-88B15216D5B7}"/>
              </a:ext>
            </a:extLst>
          </p:cNvPr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421787-2936-646A-700E-90B585A4428C}"/>
              </a:ext>
            </a:extLst>
          </p:cNvPr>
          <p:cNvSpPr txBox="1"/>
          <p:nvPr/>
        </p:nvSpPr>
        <p:spPr>
          <a:xfrm>
            <a:off x="601980" y="324485"/>
            <a:ext cx="3790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 err="1">
                <a:solidFill>
                  <a:schemeClr val="accent1">
                    <a:lumMod val="50000"/>
                  </a:schemeClr>
                </a:solidFill>
                <a:sym typeface="+mn-ea"/>
              </a:rPr>
              <a:t>Adamap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DC8603E-840F-5D0E-5453-27829A801EF4}"/>
              </a:ext>
            </a:extLst>
          </p:cNvPr>
          <p:cNvSpPr txBox="1"/>
          <p:nvPr/>
        </p:nvSpPr>
        <p:spPr>
          <a:xfrm>
            <a:off x="1106752" y="1340836"/>
            <a:ext cx="8995189" cy="1409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Capturing variable loss patterns with fixed-size data structure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Exploits spatial locality of losses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Combine precise and compact range representation</a:t>
            </a:r>
            <a:endParaRPr lang="zh-CN" altLang="en-US" sz="2000" i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A3BAB1C-5B4C-56DC-5092-AAC0B029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0190F0F-149E-79A4-4C25-EEC113BF1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06" t="4701" r="14746" b="40660"/>
          <a:stretch>
            <a:fillRect/>
          </a:stretch>
        </p:blipFill>
        <p:spPr>
          <a:xfrm>
            <a:off x="1223055" y="4611526"/>
            <a:ext cx="4381291" cy="116643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FD3BF8E-041B-CDFE-9FB1-75BABAB63B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71" r="12378" b="33186"/>
          <a:stretch>
            <a:fillRect/>
          </a:stretch>
        </p:blipFill>
        <p:spPr>
          <a:xfrm>
            <a:off x="6000997" y="4371490"/>
            <a:ext cx="4484915" cy="1646504"/>
          </a:xfrm>
          <a:prstGeom prst="rect">
            <a:avLst/>
          </a:prstGeom>
        </p:spPr>
      </p:pic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0F132732-E132-D9B3-F2C9-00D8CD2AB5A1}"/>
              </a:ext>
            </a:extLst>
          </p:cNvPr>
          <p:cNvSpPr txBox="1"/>
          <p:nvPr/>
        </p:nvSpPr>
        <p:spPr>
          <a:xfrm>
            <a:off x="1165203" y="2908713"/>
            <a:ext cx="9510054" cy="1638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 err="1"/>
              <a:t>Adamap</a:t>
            </a:r>
            <a:r>
              <a:rPr lang="en-US" altLang="zh-CN" b="1" dirty="0"/>
              <a:t>-driven selective retransmission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Piggybacked in NACK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Retrieve WQEs and generate packets according to </a:t>
            </a:r>
            <a:r>
              <a:rPr lang="en-US" altLang="zh-CN" sz="2000" dirty="0" err="1"/>
              <a:t>Adamap</a:t>
            </a:r>
            <a:r>
              <a:rPr lang="en-US" altLang="zh-CN" sz="2000" dirty="0"/>
              <a:t> contents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1762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8FAE-DB9E-497F-CB08-D4095883A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0D91A93-E18A-2218-AA78-9CBD81EE29C4}"/>
              </a:ext>
            </a:extLst>
          </p:cNvPr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013E14-6B56-2866-22A1-DDEBCCABE3E6}"/>
              </a:ext>
            </a:extLst>
          </p:cNvPr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C99EFB-791D-2199-4969-DD9AF8CDE1A4}"/>
              </a:ext>
            </a:extLst>
          </p:cNvPr>
          <p:cNvSpPr txBox="1"/>
          <p:nvPr/>
        </p:nvSpPr>
        <p:spPr>
          <a:xfrm>
            <a:off x="601981" y="324485"/>
            <a:ext cx="5828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3-tier Control Path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3D1ACA6-875D-34BB-23C2-4518B135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64C79E-8DC8-86AC-B878-70E2F781F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615" y="1174444"/>
            <a:ext cx="5194799" cy="300711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525D62DF-974D-B33D-2DCE-CC0CF91DB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9201" y="1559969"/>
            <a:ext cx="4915875" cy="4494047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76B8765D-3601-63F9-4187-14B40423E7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0721" y="2459857"/>
            <a:ext cx="641562" cy="400915"/>
          </a:xfrm>
          <a:prstGeom prst="rect">
            <a:avLst/>
          </a:prstGeom>
        </p:spPr>
      </p:pic>
      <p:sp>
        <p:nvSpPr>
          <p:cNvPr id="87" name="内容占位符 2">
            <a:extLst>
              <a:ext uri="{FF2B5EF4-FFF2-40B4-BE49-F238E27FC236}">
                <a16:creationId xmlns:a16="http://schemas.microsoft.com/office/drawing/2014/main" id="{3B46CE11-B818-08C3-164C-401976C3C080}"/>
              </a:ext>
            </a:extLst>
          </p:cNvPr>
          <p:cNvSpPr txBox="1"/>
          <p:nvPr/>
        </p:nvSpPr>
        <p:spPr>
          <a:xfrm>
            <a:off x="491332" y="1368795"/>
            <a:ext cx="5318072" cy="2001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Tier 1: First-Time Transmission Handling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Detect losses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generate </a:t>
            </a:r>
            <a:r>
              <a:rPr lang="en-US" altLang="zh-CN" sz="2000" dirty="0" err="1"/>
              <a:t>Adamap</a:t>
            </a:r>
            <a:endParaRPr lang="en-US" altLang="zh-CN" sz="2000" dirty="0"/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Processing frequency: ~O(BW)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C4906416-07A0-D447-28B0-E7D0DB3CCA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0621" y="2667578"/>
            <a:ext cx="2793571" cy="472461"/>
          </a:xfrm>
          <a:prstGeom prst="rect">
            <a:avLst/>
          </a:prstGeom>
        </p:spPr>
      </p:pic>
      <p:sp>
        <p:nvSpPr>
          <p:cNvPr id="7" name="乘号 6">
            <a:extLst>
              <a:ext uri="{FF2B5EF4-FFF2-40B4-BE49-F238E27FC236}">
                <a16:creationId xmlns:a16="http://schemas.microsoft.com/office/drawing/2014/main" id="{5D2DB90A-F62F-0CA1-68CE-74B87AB7C123}"/>
              </a:ext>
            </a:extLst>
          </p:cNvPr>
          <p:cNvSpPr/>
          <p:nvPr/>
        </p:nvSpPr>
        <p:spPr>
          <a:xfrm>
            <a:off x="9242191" y="2903808"/>
            <a:ext cx="202519" cy="1641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5B424A80-574F-8081-2D60-6E8200E17C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39897" y="3051695"/>
            <a:ext cx="207892" cy="111897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DB50A7BA-35C9-F29D-145F-C00DE410340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97463" y="3059615"/>
            <a:ext cx="2767583" cy="621658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0BF15A40-34BE-2498-E6DE-F556D68B82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35239" y="2817806"/>
            <a:ext cx="649668" cy="1268184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0F75C145-1C36-CBD3-A901-FA8CAB4873C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04877" y="3071904"/>
            <a:ext cx="688651" cy="174064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06E384C0-B404-6611-D2B4-A645A121E30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70733" y="3545604"/>
            <a:ext cx="581912" cy="321720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5A28588D-D7BF-B2A7-A6F1-445F0F2C1A2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92790" y="3787072"/>
            <a:ext cx="2793569" cy="484892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13C0E43E-A7A2-2F72-3FE4-B15AA23C4D0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944761" y="3993800"/>
            <a:ext cx="207894" cy="298396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84EDAD33-D192-95CE-369E-CCDAC92F5DC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39897" y="3881129"/>
            <a:ext cx="883825" cy="298490"/>
          </a:xfrm>
          <a:prstGeom prst="rect">
            <a:avLst/>
          </a:prstGeom>
        </p:spPr>
      </p:pic>
      <p:sp>
        <p:nvSpPr>
          <p:cNvPr id="35" name="内容占位符 2">
            <a:extLst>
              <a:ext uri="{FF2B5EF4-FFF2-40B4-BE49-F238E27FC236}">
                <a16:creationId xmlns:a16="http://schemas.microsoft.com/office/drawing/2014/main" id="{0CE5210D-3ED3-C74D-265E-163A0BDBD390}"/>
              </a:ext>
            </a:extLst>
          </p:cNvPr>
          <p:cNvSpPr txBox="1"/>
          <p:nvPr/>
        </p:nvSpPr>
        <p:spPr>
          <a:xfrm>
            <a:off x="479425" y="3451898"/>
            <a:ext cx="6005175" cy="27984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 Tier 2: First-Retransmission Handling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Exploits the sequential pattern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Prefetch for line-rate processing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Processing frequency: ~O(BW × </a:t>
            </a:r>
            <a:r>
              <a:rPr lang="en-US" altLang="zh-CN" sz="2000" dirty="0" err="1"/>
              <a:t>LossRate</a:t>
            </a:r>
            <a:r>
              <a:rPr lang="en-US" altLang="zh-CN" sz="2000" dirty="0"/>
              <a:t>)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47F762-EC33-5A76-8D36-BFD8AB185D37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10876518" y="3238476"/>
            <a:ext cx="347372" cy="124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EBE5423-BD09-BC86-8074-5549198DBA3D}"/>
              </a:ext>
            </a:extLst>
          </p:cNvPr>
          <p:cNvSpPr txBox="1"/>
          <p:nvPr/>
        </p:nvSpPr>
        <p:spPr>
          <a:xfrm>
            <a:off x="11223890" y="3209063"/>
            <a:ext cx="805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1" dirty="0"/>
              <a:t>tail</a:t>
            </a:r>
            <a:endParaRPr lang="zh-CN" altLang="en-US" i="1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FDF6495-0A3A-D8F6-EFDE-C05DEEE5407B}"/>
              </a:ext>
            </a:extLst>
          </p:cNvPr>
          <p:cNvCxnSpPr>
            <a:cxnSpLocks/>
          </p:cNvCxnSpPr>
          <p:nvPr/>
        </p:nvCxnSpPr>
        <p:spPr>
          <a:xfrm flipV="1">
            <a:off x="9614266" y="4251522"/>
            <a:ext cx="258390" cy="20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696C3E4-F8C9-452C-E025-F8639971DD21}"/>
              </a:ext>
            </a:extLst>
          </p:cNvPr>
          <p:cNvSpPr txBox="1"/>
          <p:nvPr/>
        </p:nvSpPr>
        <p:spPr>
          <a:xfrm>
            <a:off x="9110423" y="4104548"/>
            <a:ext cx="5657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1" dirty="0"/>
              <a:t>head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418329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7" grpId="0" animBg="1"/>
      <p:bldP spid="3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1C9C-0BCE-91E9-B246-C724670CA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7A92391-C0CB-3156-6337-A0BF994A8E4D}"/>
              </a:ext>
            </a:extLst>
          </p:cNvPr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5BABE8-3AB0-0E38-8D08-00018090E85B}"/>
              </a:ext>
            </a:extLst>
          </p:cNvPr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C7B2BE-02ED-FC0A-90BF-5D68E8D82A9B}"/>
              </a:ext>
            </a:extLst>
          </p:cNvPr>
          <p:cNvSpPr txBox="1"/>
          <p:nvPr/>
        </p:nvSpPr>
        <p:spPr>
          <a:xfrm>
            <a:off x="601981" y="324485"/>
            <a:ext cx="5828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3-tier Control Path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FA6D2C-BDC0-B2E1-3FD4-1F687F66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648B075-C5D9-F23D-B409-8B742CC26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615" y="1174444"/>
            <a:ext cx="5194799" cy="300711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050A92D0-B342-D86F-4EED-A6F8341E5A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9201" y="1559969"/>
            <a:ext cx="4915875" cy="4494047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4781EB8A-3FC3-BE47-DC72-7717A46169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0721" y="2459857"/>
            <a:ext cx="641562" cy="400915"/>
          </a:xfrm>
          <a:prstGeom prst="rect">
            <a:avLst/>
          </a:prstGeom>
        </p:spPr>
      </p:pic>
      <p:pic>
        <p:nvPicPr>
          <p:cNvPr id="2" name="图形 1">
            <a:extLst>
              <a:ext uri="{FF2B5EF4-FFF2-40B4-BE49-F238E27FC236}">
                <a16:creationId xmlns:a16="http://schemas.microsoft.com/office/drawing/2014/main" id="{73A10ABE-DBAE-BD4B-43AE-0B51091049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0621" y="2667578"/>
            <a:ext cx="2793571" cy="472461"/>
          </a:xfrm>
          <a:prstGeom prst="rect">
            <a:avLst/>
          </a:prstGeom>
        </p:spPr>
      </p:pic>
      <p:sp>
        <p:nvSpPr>
          <p:cNvPr id="7" name="乘号 6">
            <a:extLst>
              <a:ext uri="{FF2B5EF4-FFF2-40B4-BE49-F238E27FC236}">
                <a16:creationId xmlns:a16="http://schemas.microsoft.com/office/drawing/2014/main" id="{9B0CC846-D050-1A07-5179-C578A1E12448}"/>
              </a:ext>
            </a:extLst>
          </p:cNvPr>
          <p:cNvSpPr/>
          <p:nvPr/>
        </p:nvSpPr>
        <p:spPr>
          <a:xfrm>
            <a:off x="9242191" y="2903808"/>
            <a:ext cx="202519" cy="1641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CB0EA8CB-9419-F289-D0E7-BFF68ECE46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39897" y="3051695"/>
            <a:ext cx="207892" cy="111897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76688AA6-1140-5EE0-1BAD-44AF75F086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97463" y="3059615"/>
            <a:ext cx="2767583" cy="621658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D616280-DF51-70D9-897C-B033104E8EA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35239" y="2817806"/>
            <a:ext cx="649668" cy="1268184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C2A460CA-CAF3-3AF5-4C75-695BB5CA9F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04877" y="3071904"/>
            <a:ext cx="688651" cy="174064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FC826C07-0887-16CF-EF2B-4B3710FD9B7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70733" y="3545604"/>
            <a:ext cx="581912" cy="321720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EDB810DC-7DE2-D153-AADA-3118D0C7D72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92790" y="3787072"/>
            <a:ext cx="2793569" cy="484892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9EFBD202-34F7-2AAE-7A45-4BC18D6C1AB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944761" y="3993800"/>
            <a:ext cx="207894" cy="298396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7C2B77C-65F9-23F5-8091-D2834A1179D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39897" y="3881129"/>
            <a:ext cx="883825" cy="298490"/>
          </a:xfrm>
          <a:prstGeom prst="rect">
            <a:avLst/>
          </a:prstGeom>
        </p:spPr>
      </p:pic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4E2361C8-16A9-3BA7-F3D8-9693E024AB44}"/>
              </a:ext>
            </a:extLst>
          </p:cNvPr>
          <p:cNvSpPr txBox="1"/>
          <p:nvPr/>
        </p:nvSpPr>
        <p:spPr>
          <a:xfrm>
            <a:off x="660088" y="1371346"/>
            <a:ext cx="5684908" cy="767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dirty="0"/>
              <a:t>Wait…</a:t>
            </a:r>
            <a:r>
              <a:rPr lang="zh-CN" altLang="en-US" dirty="0"/>
              <a:t> </a:t>
            </a:r>
            <a:r>
              <a:rPr lang="en-US" altLang="zh-CN" dirty="0"/>
              <a:t>Should we maintain a separate control path for every retransmission tier?</a:t>
            </a:r>
            <a:endParaRPr lang="zh-CN" altLang="en-US" sz="1800" dirty="0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3CA0A92D-7FE2-06A9-86E6-7CD7A3A8909D}"/>
              </a:ext>
            </a:extLst>
          </p:cNvPr>
          <p:cNvSpPr txBox="1"/>
          <p:nvPr/>
        </p:nvSpPr>
        <p:spPr>
          <a:xfrm>
            <a:off x="788976" y="2867100"/>
            <a:ext cx="5527588" cy="945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sz="2000" dirty="0"/>
              <a:t>      Unpredictable</a:t>
            </a:r>
            <a:r>
              <a:rPr lang="zh-CN" altLang="en-US" sz="2000" dirty="0"/>
              <a:t> </a:t>
            </a:r>
            <a:r>
              <a:rPr lang="en-US" altLang="zh-CN" sz="2000" dirty="0"/>
              <a:t>tier of retransmissions</a:t>
            </a:r>
          </a:p>
          <a:p>
            <a:pPr algn="l">
              <a:lnSpc>
                <a:spcPct val="100000"/>
              </a:lnSpc>
            </a:pPr>
            <a:r>
              <a:rPr lang="en-US" altLang="zh-CN" sz="2000" dirty="0"/>
              <a:t>      Packets retransmitted &gt; 1 times are rare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BFDFA00-8C81-1DBB-67B4-03FAAB1B69F9}"/>
              </a:ext>
            </a:extLst>
          </p:cNvPr>
          <p:cNvSpPr txBox="1"/>
          <p:nvPr/>
        </p:nvSpPr>
        <p:spPr>
          <a:xfrm>
            <a:off x="601980" y="4735115"/>
            <a:ext cx="55758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400" dirty="0"/>
              <a:t>It is more cost-effective to manage all high-order retransmissions </a:t>
            </a:r>
            <a:r>
              <a:rPr lang="en-US" altLang="zh-CN" sz="2400" i="1" dirty="0">
                <a:solidFill>
                  <a:srgbClr val="1F4E79"/>
                </a:solidFill>
              </a:rPr>
              <a:t>in a unified manner</a:t>
            </a:r>
            <a:r>
              <a:rPr lang="en-US" altLang="zh-CN" sz="2400" dirty="0">
                <a:solidFill>
                  <a:srgbClr val="1F4E79"/>
                </a:solidFill>
              </a:rPr>
              <a:t>!</a:t>
            </a:r>
            <a:endParaRPr lang="en-US" altLang="zh-CN" sz="2400" dirty="0"/>
          </a:p>
        </p:txBody>
      </p:sp>
      <p:pic>
        <p:nvPicPr>
          <p:cNvPr id="23" name="图形 22">
            <a:extLst>
              <a:ext uri="{FF2B5EF4-FFF2-40B4-BE49-F238E27FC236}">
                <a16:creationId xmlns:a16="http://schemas.microsoft.com/office/drawing/2014/main" id="{FCE9BAB2-26DA-C978-D7FB-F951E58E398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39712" y="1546352"/>
            <a:ext cx="502134" cy="502134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13916052-F70D-4904-31DF-E1DF878D1E6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77820" y="3339311"/>
            <a:ext cx="314634" cy="314634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8FB7C2DD-AEA1-B3A4-F5FC-E2A3CB81742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77820" y="2902298"/>
            <a:ext cx="314634" cy="314634"/>
          </a:xfrm>
          <a:prstGeom prst="rect">
            <a:avLst/>
          </a:prstGeom>
        </p:spPr>
      </p:pic>
      <p:sp>
        <p:nvSpPr>
          <p:cNvPr id="27" name="箭头: 下 26">
            <a:extLst>
              <a:ext uri="{FF2B5EF4-FFF2-40B4-BE49-F238E27FC236}">
                <a16:creationId xmlns:a16="http://schemas.microsoft.com/office/drawing/2014/main" id="{8BA04F22-D0C3-B815-EE75-3F318451CF33}"/>
              </a:ext>
            </a:extLst>
          </p:cNvPr>
          <p:cNvSpPr/>
          <p:nvPr/>
        </p:nvSpPr>
        <p:spPr>
          <a:xfrm>
            <a:off x="2876495" y="4148091"/>
            <a:ext cx="676275" cy="28820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33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5FFE-7637-DF1C-FF8D-5CD7F183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31BD162-7025-2198-F5D2-0DA983FEEB63}"/>
              </a:ext>
            </a:extLst>
          </p:cNvPr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28F771-2496-3E60-11FB-7BAF3113F0E9}"/>
              </a:ext>
            </a:extLst>
          </p:cNvPr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3EEF58-6463-3965-B151-7404A9E74C98}"/>
              </a:ext>
            </a:extLst>
          </p:cNvPr>
          <p:cNvSpPr txBox="1"/>
          <p:nvPr/>
        </p:nvSpPr>
        <p:spPr>
          <a:xfrm>
            <a:off x="601980" y="324485"/>
            <a:ext cx="4808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3-tier Control Path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B217C7-13B6-9944-B361-5CA6C1870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512A04-D468-68AD-0A20-86A115037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615" y="1174444"/>
            <a:ext cx="5194799" cy="300711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C2D99C0C-CCBF-3CF5-43CB-D942DB6A40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9201" y="1559969"/>
            <a:ext cx="4915875" cy="4494047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FBA8624C-45FC-9FF1-6B60-2C9B2BC74C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0721" y="2459857"/>
            <a:ext cx="641562" cy="400915"/>
          </a:xfrm>
          <a:prstGeom prst="rect">
            <a:avLst/>
          </a:prstGeom>
        </p:spPr>
      </p:pic>
      <p:pic>
        <p:nvPicPr>
          <p:cNvPr id="2" name="图形 1">
            <a:extLst>
              <a:ext uri="{FF2B5EF4-FFF2-40B4-BE49-F238E27FC236}">
                <a16:creationId xmlns:a16="http://schemas.microsoft.com/office/drawing/2014/main" id="{26397703-7878-42F0-60DF-7B0CAD88D0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0621" y="2667578"/>
            <a:ext cx="2793571" cy="472461"/>
          </a:xfrm>
          <a:prstGeom prst="rect">
            <a:avLst/>
          </a:prstGeom>
        </p:spPr>
      </p:pic>
      <p:sp>
        <p:nvSpPr>
          <p:cNvPr id="7" name="乘号 6">
            <a:extLst>
              <a:ext uri="{FF2B5EF4-FFF2-40B4-BE49-F238E27FC236}">
                <a16:creationId xmlns:a16="http://schemas.microsoft.com/office/drawing/2014/main" id="{532F4603-ADEE-B2CD-F516-B29AB48F9239}"/>
              </a:ext>
            </a:extLst>
          </p:cNvPr>
          <p:cNvSpPr/>
          <p:nvPr/>
        </p:nvSpPr>
        <p:spPr>
          <a:xfrm>
            <a:off x="9242191" y="2903808"/>
            <a:ext cx="202519" cy="16416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C0D0B2AC-A411-3889-F930-593A72B22B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39897" y="3051695"/>
            <a:ext cx="207892" cy="111897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E1B2BE24-20EB-857F-0EB7-0D3CB21FF7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97463" y="3059615"/>
            <a:ext cx="2767583" cy="621658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B0411B0D-3A0C-8E98-6D9D-B64B9DE9343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35239" y="2817806"/>
            <a:ext cx="649668" cy="1268184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A8E3902B-E881-0908-32F8-A946B17741D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04877" y="3071904"/>
            <a:ext cx="688651" cy="174064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B46443AC-887C-353B-45C6-35B3BCF951E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43082" y="4913382"/>
            <a:ext cx="675654" cy="609224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8C730B1D-11D5-A188-0B50-DC517B0F3FE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70733" y="3545604"/>
            <a:ext cx="581912" cy="321720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74443857-3E17-0012-D9C8-988EA1F45BE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92790" y="3787072"/>
            <a:ext cx="2793569" cy="484892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93251A0F-AFC1-DDBA-1F5B-100762F9E1C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44761" y="3993800"/>
            <a:ext cx="207894" cy="298396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2518228B-5809-9134-E818-015293383BA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39897" y="3881129"/>
            <a:ext cx="883825" cy="29849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5FE4ED4-206E-9439-EC60-F2BE1E3CEB2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043843" y="4292196"/>
            <a:ext cx="1206646" cy="528626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D4A6D8B-05B2-34C7-449D-928E5AEF03C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435482">
            <a:off x="9927560" y="4880579"/>
            <a:ext cx="737170" cy="143007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B043EB5A-94A6-F235-BEBF-85B03746F48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205564" y="4480504"/>
            <a:ext cx="2767585" cy="609224"/>
          </a:xfrm>
          <a:prstGeom prst="rect">
            <a:avLst/>
          </a:prstGeom>
        </p:spPr>
      </p:pic>
      <p:pic>
        <p:nvPicPr>
          <p:cNvPr id="29" name="图形 28">
            <a:extLst>
              <a:ext uri="{FF2B5EF4-FFF2-40B4-BE49-F238E27FC236}">
                <a16:creationId xmlns:a16="http://schemas.microsoft.com/office/drawing/2014/main" id="{74102042-8FBE-C459-1DAC-D4B57BEBCB0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351270" y="4900930"/>
            <a:ext cx="581912" cy="321720"/>
          </a:xfrm>
          <a:prstGeom prst="rect">
            <a:avLst/>
          </a:prstGeom>
        </p:spPr>
      </p:pic>
      <p:pic>
        <p:nvPicPr>
          <p:cNvPr id="30" name="图形 29">
            <a:extLst>
              <a:ext uri="{FF2B5EF4-FFF2-40B4-BE49-F238E27FC236}">
                <a16:creationId xmlns:a16="http://schemas.microsoft.com/office/drawing/2014/main" id="{BE518895-C488-F434-78FA-97940B0CD19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211235" y="5027659"/>
            <a:ext cx="2780576" cy="447594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608CB98F-513E-E622-575E-0C43126736EC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963631" y="4790758"/>
            <a:ext cx="207893" cy="447592"/>
          </a:xfrm>
          <a:prstGeom prst="rect">
            <a:avLst/>
          </a:prstGeom>
        </p:spPr>
      </p:pic>
      <p:pic>
        <p:nvPicPr>
          <p:cNvPr id="32" name="图形 31">
            <a:extLst>
              <a:ext uri="{FF2B5EF4-FFF2-40B4-BE49-F238E27FC236}">
                <a16:creationId xmlns:a16="http://schemas.microsoft.com/office/drawing/2014/main" id="{71116144-4258-202C-09A3-2B6604DDBB2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910699" y="5080416"/>
            <a:ext cx="805587" cy="472461"/>
          </a:xfrm>
          <a:prstGeom prst="rect">
            <a:avLst/>
          </a:prstGeom>
        </p:spPr>
      </p:pic>
      <p:pic>
        <p:nvPicPr>
          <p:cNvPr id="33" name="图形 32">
            <a:extLst>
              <a:ext uri="{FF2B5EF4-FFF2-40B4-BE49-F238E27FC236}">
                <a16:creationId xmlns:a16="http://schemas.microsoft.com/office/drawing/2014/main" id="{B7DBD1F0-06C0-E7BE-7EA3-5DF2534D417E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215435" y="5757791"/>
            <a:ext cx="1897027" cy="285963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948BF821-AA1E-3704-66A9-F8D2521E0867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186768" y="5316453"/>
            <a:ext cx="2767583" cy="621658"/>
          </a:xfrm>
          <a:prstGeom prst="rect">
            <a:avLst/>
          </a:prstGeom>
        </p:spPr>
      </p:pic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B6A7071C-FC9B-837C-90DD-3C28184847D5}"/>
              </a:ext>
            </a:extLst>
          </p:cNvPr>
          <p:cNvSpPr txBox="1"/>
          <p:nvPr/>
        </p:nvSpPr>
        <p:spPr>
          <a:xfrm>
            <a:off x="491332" y="1368795"/>
            <a:ext cx="5318072" cy="2238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Tier 3: High-order Transmission Handling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dirty="0"/>
              <a:t>Manage </a:t>
            </a:r>
            <a:r>
              <a:rPr lang="en-US" altLang="zh-CN" sz="2000" dirty="0" err="1"/>
              <a:t>Adamap</a:t>
            </a:r>
            <a:r>
              <a:rPr lang="en-US" altLang="zh-CN" sz="2000" dirty="0"/>
              <a:t> of high-order transmission  with a unified lookup table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dirty="0"/>
              <a:t>Lookup index </a:t>
            </a:r>
            <a:r>
              <a:rPr lang="en-US" altLang="zh-CN" sz="2000" i="1" dirty="0"/>
              <a:t>pre-embedded</a:t>
            </a:r>
            <a:r>
              <a:rPr lang="en-US" altLang="zh-CN" sz="2000" dirty="0"/>
              <a:t> in NACK and returns with retransmitted packets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b="1" dirty="0"/>
              <a:t>O(1) </a:t>
            </a:r>
            <a:r>
              <a:rPr lang="en-US" altLang="zh-CN" sz="2000" b="1" dirty="0" err="1"/>
              <a:t>Adamap</a:t>
            </a:r>
            <a:r>
              <a:rPr lang="en-US" altLang="zh-CN" sz="2000" b="1" dirty="0"/>
              <a:t> access</a:t>
            </a:r>
            <a:r>
              <a:rPr lang="en-US" altLang="zh-CN" sz="2000" dirty="0"/>
              <a:t> via direct table lookup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4"/>
          <a:srcRect b="36636"/>
          <a:stretch>
            <a:fillRect/>
          </a:stretch>
        </p:blipFill>
        <p:spPr>
          <a:xfrm>
            <a:off x="619323" y="3909134"/>
            <a:ext cx="5318072" cy="948470"/>
          </a:xfrm>
          <a:prstGeom prst="rect">
            <a:avLst/>
          </a:prstGeom>
        </p:spPr>
      </p:pic>
      <p:sp>
        <p:nvSpPr>
          <p:cNvPr id="24" name="内容占位符 2"/>
          <p:cNvSpPr txBox="1"/>
          <p:nvPr/>
        </p:nvSpPr>
        <p:spPr>
          <a:xfrm>
            <a:off x="828552" y="4888196"/>
            <a:ext cx="5160818" cy="3850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/>
              <a:t>Characteristics of three-tier control path (BW: bandwidth; LR: loss rate)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6A876607-7C20-9E8F-1F71-3DA77D70909F}"/>
              </a:ext>
            </a:extLst>
          </p:cNvPr>
          <p:cNvSpPr txBox="1"/>
          <p:nvPr/>
        </p:nvSpPr>
        <p:spPr>
          <a:xfrm>
            <a:off x="997278" y="5238350"/>
            <a:ext cx="5277622" cy="111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dirty="0"/>
              <a:t>To further overlap the access cost on critical path: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1800" dirty="0"/>
              <a:t>Intra-QP: dedicated queue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1800" dirty="0"/>
              <a:t>Inter-QP: QP interleaving and pipelining</a:t>
            </a:r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14408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1980" y="324485"/>
            <a:ext cx="3790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Evaluation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824950" y="2408652"/>
            <a:ext cx="5776580" cy="2202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Topology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P2p connected by a switch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100Gbps, 1KB MTU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9DA8CA6-A0A9-6B36-A9A8-C40846E8412F}"/>
              </a:ext>
            </a:extLst>
          </p:cNvPr>
          <p:cNvSpPr txBox="1"/>
          <p:nvPr/>
        </p:nvSpPr>
        <p:spPr>
          <a:xfrm>
            <a:off x="829439" y="1199602"/>
            <a:ext cx="10683849" cy="2202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Setup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NS3 simulation</a:t>
            </a: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B82DC80A-8C5A-E458-B887-B9BBC9D6A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1029" y="3088639"/>
            <a:ext cx="718584" cy="718584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9020DCFD-4096-6737-C456-6BE72F47A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6911" y="3088638"/>
            <a:ext cx="718584" cy="718584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94C42B0-A309-5FFD-70E8-61D0798166B4}"/>
              </a:ext>
            </a:extLst>
          </p:cNvPr>
          <p:cNvCxnSpPr>
            <a:cxnSpLocks/>
          </p:cNvCxnSpPr>
          <p:nvPr/>
        </p:nvCxnSpPr>
        <p:spPr>
          <a:xfrm>
            <a:off x="7265581" y="3447930"/>
            <a:ext cx="859441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2695755-DFB5-1A70-CABD-944B48D99AE2}"/>
              </a:ext>
            </a:extLst>
          </p:cNvPr>
          <p:cNvCxnSpPr>
            <a:cxnSpLocks/>
          </p:cNvCxnSpPr>
          <p:nvPr/>
        </p:nvCxnSpPr>
        <p:spPr>
          <a:xfrm>
            <a:off x="9831917" y="3447931"/>
            <a:ext cx="57681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图形 20">
            <a:extLst>
              <a:ext uri="{FF2B5EF4-FFF2-40B4-BE49-F238E27FC236}">
                <a16:creationId xmlns:a16="http://schemas.microsoft.com/office/drawing/2014/main" id="{675972D2-C45E-4E50-7BE7-A01A5A80CF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4542" y="3159329"/>
            <a:ext cx="577203" cy="577203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A89AE62-7655-BA33-60B6-A867FA2ACEF2}"/>
              </a:ext>
            </a:extLst>
          </p:cNvPr>
          <p:cNvCxnSpPr>
            <a:cxnSpLocks/>
          </p:cNvCxnSpPr>
          <p:nvPr/>
        </p:nvCxnSpPr>
        <p:spPr>
          <a:xfrm>
            <a:off x="8618280" y="3447930"/>
            <a:ext cx="43258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96C2F34-9580-B0D6-96D1-3C25EDD2E595}"/>
              </a:ext>
            </a:extLst>
          </p:cNvPr>
          <p:cNvCxnSpPr>
            <a:cxnSpLocks/>
          </p:cNvCxnSpPr>
          <p:nvPr/>
        </p:nvCxnSpPr>
        <p:spPr>
          <a:xfrm>
            <a:off x="9132718" y="3448125"/>
            <a:ext cx="62088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FBB13B19-B8FC-5E66-6DC8-FBB3DCCBF5FD}"/>
              </a:ext>
            </a:extLst>
          </p:cNvPr>
          <p:cNvSpPr txBox="1"/>
          <p:nvPr/>
        </p:nvSpPr>
        <p:spPr>
          <a:xfrm>
            <a:off x="824950" y="4133779"/>
            <a:ext cx="6419359" cy="16936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b="1" dirty="0"/>
              <a:t>Long-haul link settings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Varied distance: 200m ~ 3000km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Loss rate: 0%, 0.1%, 0.2%, 0.5%, 1%, 2%, 3%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Loss distribution: Amazon Cloud Network</a:t>
            </a:r>
            <a:r>
              <a:rPr lang="en-US" altLang="zh-CN" sz="2000" baseline="30000" dirty="0"/>
              <a:t>[1]</a:t>
            </a: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7B91A1EA-5FFB-4793-5D3E-3CF8BAEA08B0}"/>
              </a:ext>
            </a:extLst>
          </p:cNvPr>
          <p:cNvSpPr txBox="1"/>
          <p:nvPr/>
        </p:nvSpPr>
        <p:spPr>
          <a:xfrm>
            <a:off x="8902035" y="3617701"/>
            <a:ext cx="1294507" cy="37903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dirty="0"/>
              <a:t>Long-haul link</a:t>
            </a:r>
            <a:endParaRPr lang="en-US" altLang="zh-CN" sz="2000" dirty="0"/>
          </a:p>
        </p:txBody>
      </p: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1EF5C928-D78A-6A9D-C01A-D9D22ED82DEA}"/>
              </a:ext>
            </a:extLst>
          </p:cNvPr>
          <p:cNvSpPr txBox="1"/>
          <p:nvPr/>
        </p:nvSpPr>
        <p:spPr>
          <a:xfrm>
            <a:off x="7468569" y="3617701"/>
            <a:ext cx="639286" cy="37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sz="1500" dirty="0"/>
              <a:t>1us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3B9C289-D393-3B7E-EB93-3493188B295D}"/>
              </a:ext>
            </a:extLst>
          </p:cNvPr>
          <p:cNvSpPr txBox="1"/>
          <p:nvPr/>
        </p:nvSpPr>
        <p:spPr>
          <a:xfrm>
            <a:off x="7913942" y="4133779"/>
            <a:ext cx="2553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Simulation topology</a:t>
            </a:r>
            <a:endParaRPr lang="zh-CN" alt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D547A1B-839F-7D76-6009-207DB5D6D86C}"/>
              </a:ext>
            </a:extLst>
          </p:cNvPr>
          <p:cNvSpPr txBox="1"/>
          <p:nvPr/>
        </p:nvSpPr>
        <p:spPr>
          <a:xfrm>
            <a:off x="824950" y="6413698"/>
            <a:ext cx="93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Measuring and improving the reliability of wide-area cloud paths. (WWW’17)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4374A-CDFE-31C5-3C46-A0BD9618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6CA4E80-2051-EAD7-0BF8-0EB5DD59B7C2}"/>
              </a:ext>
            </a:extLst>
          </p:cNvPr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968473-C0A2-3495-06B0-FCF0C631CB9F}"/>
              </a:ext>
            </a:extLst>
          </p:cNvPr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2B4C65-ABF3-AEB0-F77D-66B316918FC9}"/>
              </a:ext>
            </a:extLst>
          </p:cNvPr>
          <p:cNvSpPr txBox="1"/>
          <p:nvPr/>
        </p:nvSpPr>
        <p:spPr>
          <a:xfrm>
            <a:off x="601980" y="324485"/>
            <a:ext cx="6245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Preliminary Results 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AFF056E-ADCC-9321-F7E1-F333649ABD03}"/>
              </a:ext>
            </a:extLst>
          </p:cNvPr>
          <p:cNvSpPr txBox="1"/>
          <p:nvPr/>
        </p:nvSpPr>
        <p:spPr>
          <a:xfrm>
            <a:off x="816628" y="1572491"/>
            <a:ext cx="10683849" cy="699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200" dirty="0"/>
              <a:t>Distance-independent goodput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/>
              <a:t>Only affected by loss rate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1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C08DDE-7BD6-13E5-60A8-06A11E02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CF95D7-F7FF-E63C-2131-8895568A03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467"/>
          <a:stretch>
            <a:fillRect/>
          </a:stretch>
        </p:blipFill>
        <p:spPr>
          <a:xfrm>
            <a:off x="1008014" y="4197035"/>
            <a:ext cx="3169131" cy="2336480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C21F61E-36BD-75A7-80E8-3DA338DD715C}"/>
              </a:ext>
            </a:extLst>
          </p:cNvPr>
          <p:cNvSpPr txBox="1"/>
          <p:nvPr/>
        </p:nvSpPr>
        <p:spPr>
          <a:xfrm>
            <a:off x="816627" y="2305522"/>
            <a:ext cx="10683849" cy="10126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000" dirty="0"/>
              <a:t>Small loss-recording overhead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700" i="1" dirty="0"/>
              <a:t>RNIC mem:</a:t>
            </a:r>
            <a:r>
              <a:rPr lang="en-US" altLang="zh-CN" sz="1700" dirty="0"/>
              <a:t> small &amp; fixed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700" i="1" dirty="0"/>
              <a:t>Total mem: </a:t>
            </a:r>
            <a:r>
              <a:rPr lang="en-US" altLang="zh-CN" sz="1700" dirty="0"/>
              <a:t>less than bitmap-only scheme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AC756EB-DFE2-4116-0D58-029BFA5243AC}"/>
              </a:ext>
            </a:extLst>
          </p:cNvPr>
          <p:cNvSpPr txBox="1"/>
          <p:nvPr/>
        </p:nvSpPr>
        <p:spPr>
          <a:xfrm>
            <a:off x="816627" y="3355760"/>
            <a:ext cx="10683849" cy="6533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200" dirty="0"/>
              <a:t>Limited critical-path DMA reads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/>
              <a:t>Can be further mitigated with caching &amp; RNIC’s QP scheduling and pipelining 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18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4DCC0E-5A82-9C42-4FFA-F40889E23E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56" r="34486"/>
          <a:stretch>
            <a:fillRect/>
          </a:stretch>
        </p:blipFill>
        <p:spPr>
          <a:xfrm>
            <a:off x="4350326" y="4197035"/>
            <a:ext cx="3241965" cy="23364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D4354B4-09AB-3B87-711D-AC0225798F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237"/>
          <a:stretch>
            <a:fillRect/>
          </a:stretch>
        </p:blipFill>
        <p:spPr>
          <a:xfrm>
            <a:off x="7765472" y="4197035"/>
            <a:ext cx="3292792" cy="2336480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23F1A4BB-0F25-2784-3BDA-4D332B081549}"/>
              </a:ext>
            </a:extLst>
          </p:cNvPr>
          <p:cNvSpPr txBox="1"/>
          <p:nvPr/>
        </p:nvSpPr>
        <p:spPr>
          <a:xfrm>
            <a:off x="816626" y="1170740"/>
            <a:ext cx="10683849" cy="4017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sz="2600" b="1" dirty="0"/>
              <a:t>Evaluate performance, overhead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407454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70F20-40D7-DB6C-08D0-78C87E4B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4B4D8A5-18B9-B57A-6CC1-5313E93CFF27}"/>
              </a:ext>
            </a:extLst>
          </p:cNvPr>
          <p:cNvSpPr/>
          <p:nvPr/>
        </p:nvSpPr>
        <p:spPr>
          <a:xfrm>
            <a:off x="0" y="312837"/>
            <a:ext cx="479425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E7538A-8749-8B7B-28D7-232847089D21}"/>
              </a:ext>
            </a:extLst>
          </p:cNvPr>
          <p:cNvSpPr/>
          <p:nvPr/>
        </p:nvSpPr>
        <p:spPr>
          <a:xfrm>
            <a:off x="533522" y="312202"/>
            <a:ext cx="68458" cy="6566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FBC9D0-D330-66BF-B2D1-B1F9B55FFE5B}"/>
              </a:ext>
            </a:extLst>
          </p:cNvPr>
          <p:cNvSpPr txBox="1"/>
          <p:nvPr/>
        </p:nvSpPr>
        <p:spPr>
          <a:xfrm>
            <a:off x="601980" y="324485"/>
            <a:ext cx="3790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Summary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FABB4F-53B2-99AC-CB8D-D295C8FD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4E7DB47-D1E7-C60D-6105-9BA60C51E83A}"/>
              </a:ext>
            </a:extLst>
          </p:cNvPr>
          <p:cNvSpPr txBox="1">
            <a:spLocks/>
          </p:cNvSpPr>
          <p:nvPr/>
        </p:nvSpPr>
        <p:spPr>
          <a:xfrm>
            <a:off x="830317" y="1479166"/>
            <a:ext cx="10436773" cy="4464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dirty="0"/>
              <a:t>To enable scalable RDMA transport over WAN:</a:t>
            </a:r>
          </a:p>
          <a:p>
            <a:pPr algn="l"/>
            <a:endParaRPr lang="en-US" altLang="zh-CN" b="1" dirty="0"/>
          </a:p>
          <a:p>
            <a:pPr algn="l"/>
            <a:r>
              <a:rPr lang="en-US" altLang="zh-CN" b="1" dirty="0"/>
              <a:t>Motivation: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200" dirty="0"/>
              <a:t>Utilize non-uniform packet </a:t>
            </a:r>
            <a:r>
              <a:rPr lang="en-US" altLang="zh-CN" sz="2200" dirty="0">
                <a:solidFill>
                  <a:srgbClr val="1F4E79"/>
                </a:solidFill>
              </a:rPr>
              <a:t>loss pattern </a:t>
            </a:r>
            <a:r>
              <a:rPr lang="en-US" altLang="zh-CN" sz="2200" dirty="0"/>
              <a:t>over WAN.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200" dirty="0"/>
              <a:t>Decouple transmission and retransmission for an </a:t>
            </a:r>
            <a:r>
              <a:rPr lang="en-US" altLang="zh-CN" sz="2200" dirty="0">
                <a:solidFill>
                  <a:srgbClr val="1F4E79"/>
                </a:solidFill>
              </a:rPr>
              <a:t>“unbounded” window.</a:t>
            </a:r>
          </a:p>
          <a:p>
            <a:pPr algn="l"/>
            <a:endParaRPr lang="en-US" altLang="zh-CN" dirty="0"/>
          </a:p>
          <a:p>
            <a:pPr algn="l"/>
            <a:r>
              <a:rPr lang="en-US" altLang="zh-CN" b="1" dirty="0"/>
              <a:t>Design: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200" dirty="0"/>
              <a:t>Use </a:t>
            </a:r>
            <a:r>
              <a:rPr lang="en-US" altLang="zh-CN" sz="2200" dirty="0" err="1">
                <a:solidFill>
                  <a:srgbClr val="1F4E79"/>
                </a:solidFill>
              </a:rPr>
              <a:t>Adamap</a:t>
            </a:r>
            <a:r>
              <a:rPr lang="en-US" altLang="zh-CN" sz="2200" dirty="0"/>
              <a:t> to record loss segments, improving space efficiency.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200" dirty="0"/>
              <a:t>Enable window scalability through </a:t>
            </a:r>
            <a:r>
              <a:rPr lang="en-US" altLang="zh-CN" sz="2200" dirty="0" err="1"/>
              <a:t>Adamap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1F4E79"/>
                </a:solidFill>
              </a:rPr>
              <a:t>linked-list offloading</a:t>
            </a:r>
            <a:r>
              <a:rPr lang="en-US" altLang="zh-CN" sz="2200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200" dirty="0"/>
              <a:t>Manage high-order retransmissions uniformly with </a:t>
            </a:r>
            <a:r>
              <a:rPr lang="en-US" altLang="zh-CN" sz="2200" dirty="0">
                <a:solidFill>
                  <a:srgbClr val="1F4E79"/>
                </a:solidFill>
              </a:rPr>
              <a:t>O(1) access overhead</a:t>
            </a:r>
            <a:r>
              <a:rPr lang="en-US" altLang="zh-CN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846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 rot="5400000">
            <a:off x="0" y="0"/>
            <a:ext cx="2160000" cy="21600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 rot="16200000">
            <a:off x="10031730" y="4697730"/>
            <a:ext cx="2160000" cy="21600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61657" y="3075057"/>
            <a:ext cx="11068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Thank</a:t>
            </a:r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</a:t>
            </a:r>
            <a:r>
              <a:rPr lang="en-US" altLang="zh-CN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you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DF3C-D1D1-A6F8-8874-6E55219A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71AD9DF1-0C7A-1CEC-5AB0-761CA0E73857}"/>
              </a:ext>
            </a:extLst>
          </p:cNvPr>
          <p:cNvSpPr/>
          <p:nvPr/>
        </p:nvSpPr>
        <p:spPr>
          <a:xfrm rot="5400000">
            <a:off x="0" y="0"/>
            <a:ext cx="2160000" cy="21600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763D480A-C10A-5724-9145-2F76808F6A24}"/>
              </a:ext>
            </a:extLst>
          </p:cNvPr>
          <p:cNvSpPr/>
          <p:nvPr/>
        </p:nvSpPr>
        <p:spPr>
          <a:xfrm rot="16200000">
            <a:off x="10031730" y="4697730"/>
            <a:ext cx="2160000" cy="21600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C7BA48-F290-F05C-9C90-ED7700F5195E}"/>
              </a:ext>
            </a:extLst>
          </p:cNvPr>
          <p:cNvSpPr txBox="1"/>
          <p:nvPr/>
        </p:nvSpPr>
        <p:spPr>
          <a:xfrm>
            <a:off x="561657" y="3075057"/>
            <a:ext cx="11068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Q &amp; A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81DB83-F6C2-6F5A-0DDE-A5F3FC93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19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U5NjU1M2FjYjViMmE5OTQyZDg4Y2Q1ZGRlODhlOGYifQ=="/>
  <p:tag name="KSO_WPP_MARK_KEY" val="3d07d944-d376-46d5-a284-5376d6186e5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25161</TotalTime>
  <Words>921</Words>
  <Application>Microsoft Office PowerPoint</Application>
  <PresentationFormat>宽屏</PresentationFormat>
  <Paragraphs>184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LinLibertineT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kai lv</cp:lastModifiedBy>
  <cp:revision>3149</cp:revision>
  <dcterms:created xsi:type="dcterms:W3CDTF">2023-02-20T07:40:00Z</dcterms:created>
  <dcterms:modified xsi:type="dcterms:W3CDTF">2025-08-18T04:02:37Z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F5B414CC3D684E2497232182A83EEF3F</vt:lpwstr>
  </property>
  <property fmtid="{D5CDD505-2E9C-101B-9397-08002B2CF9AE}" pid="3" name="KSOProductBuildVer">
    <vt:lpwstr>2052-12.1.0.20784</vt:lpwstr>
  </property>
</Properties>
</file>