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6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88"/>
    <p:restoredTop sz="96390"/>
  </p:normalViewPr>
  <p:slideViewPr>
    <p:cSldViewPr snapToGrid="0">
      <p:cViewPr varScale="1">
        <p:scale>
          <a:sx n="117" d="100"/>
          <a:sy n="117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5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3A5CFFB-6953-BDAB-53FD-DD699217D7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B3F066-D617-A811-43C4-A35B921A4E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2731E-213B-B14B-BDCE-93E237E75474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BFBF9C-9A50-E756-B1EE-44A02702E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A0E76F-872D-EE49-A28F-65F1F7A10D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164C7-2C0A-C543-868B-E241086B3A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7681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BE9A4-9B43-C04E-BC94-8DCDE8A796F9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4217C-E29C-4A43-BDD4-C90264B82F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021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4217C-E29C-4A43-BDD4-C90264B82F03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224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4217C-E29C-4A43-BDD4-C90264B82F03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5426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FCBD-9C83-F042-BE0D-A6ED74FF5A06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063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4A0B-C9EE-5142-8A15-5BAB50703A01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6F6BDF6-B4ED-FD4B-B3D3-9E472235FBBA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065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E0BA-2536-8547-8D04-2E8B3D847863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395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43109"/>
            <a:ext cx="5181600" cy="47338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43109"/>
            <a:ext cx="5181600" cy="47338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6A65-AAE2-D647-9CA4-DCFB14F78CD0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260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1B50-F076-A040-9DE2-AC56EDFE8B25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903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7E22-05AE-4441-BFAB-ED2E92BA04AE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74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1D8-11AE-724E-8112-070C2C54B2BB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935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28108"/>
            <a:ext cx="10515600" cy="474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1356-42EF-3A4F-A318-52795C182610}" type="datetime1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4097" y="6356350"/>
            <a:ext cx="7609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1"/>
            <a:ext cx="838200" cy="3651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fld id="{46F6BDF6-B4ED-FD4B-B3D3-9E472235FBB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EFB05D-1222-1174-062D-175EE4F1FFB1}"/>
              </a:ext>
            </a:extLst>
          </p:cNvPr>
          <p:cNvSpPr/>
          <p:nvPr userDrawn="1"/>
        </p:nvSpPr>
        <p:spPr>
          <a:xfrm>
            <a:off x="708917" y="457273"/>
            <a:ext cx="46734" cy="7143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44237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400"/>
        </a:spcBef>
        <a:buClr>
          <a:schemeClr val="accent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400"/>
        </a:spcBef>
        <a:buClr>
          <a:schemeClr val="accent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00"/>
        </a:spcBef>
        <a:buClr>
          <a:schemeClr val="accent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00"/>
        </a:spcBef>
        <a:buClr>
          <a:schemeClr val="accent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tworked-System-and-Security-Group/Mnemosyn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jinyi.xia@outlook.com" TargetMode="Externa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7BF56-06FB-2422-081A-368FC444F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Autofit/>
          </a:bodyPr>
          <a:lstStyle/>
          <a:p>
            <a:r>
              <a:rPr kumimoji="1" lang="en" altLang="zh-CN" sz="4400" cap="small" dirty="0"/>
              <a:t>Mnemosyne</a:t>
            </a:r>
            <a:r>
              <a:rPr kumimoji="1" lang="en" altLang="zh-CN" sz="4400" dirty="0"/>
              <a:t>: </a:t>
            </a:r>
            <a:r>
              <a:rPr kumimoji="1" lang="en" altLang="zh-CN" sz="4400" dirty="0">
                <a:solidFill>
                  <a:schemeClr val="tx1"/>
                </a:solidFill>
              </a:rPr>
              <a:t>Lightweight and Fast</a:t>
            </a:r>
            <a:br>
              <a:rPr kumimoji="1" lang="en" altLang="zh-CN" sz="4400" dirty="0">
                <a:solidFill>
                  <a:schemeClr val="tx1"/>
                </a:solidFill>
              </a:rPr>
            </a:br>
            <a:r>
              <a:rPr kumimoji="1" lang="en" altLang="zh-CN" sz="4400" dirty="0">
                <a:solidFill>
                  <a:schemeClr val="tx1"/>
                </a:solidFill>
              </a:rPr>
              <a:t>Error Recovery for LLM Training</a:t>
            </a:r>
            <a:br>
              <a:rPr kumimoji="1" lang="en" altLang="zh-CN" sz="4400" dirty="0">
                <a:solidFill>
                  <a:schemeClr val="tx1"/>
                </a:solidFill>
              </a:rPr>
            </a:br>
            <a:r>
              <a:rPr kumimoji="1" lang="en" altLang="zh-CN" sz="4400" dirty="0">
                <a:solidFill>
                  <a:schemeClr val="tx1"/>
                </a:solidFill>
              </a:rPr>
              <a:t>in a Just-In-Time Manner</a:t>
            </a:r>
            <a:endParaRPr kumimoji="1"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07493D-DF4A-924B-EC3A-53EFC5EB0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kumimoji="1" lang="en" altLang="zh-CN" b="1" u="sng" dirty="0"/>
              <a:t>Jinyi Xia</a:t>
            </a:r>
            <a:r>
              <a:rPr kumimoji="1" lang="en" altLang="zh-CN" dirty="0"/>
              <a:t>¹, </a:t>
            </a:r>
            <a:r>
              <a:rPr kumimoji="1" lang="en" altLang="zh-CN" dirty="0" err="1"/>
              <a:t>Menghao</a:t>
            </a:r>
            <a:r>
              <a:rPr kumimoji="1" lang="en" altLang="zh-CN" dirty="0"/>
              <a:t> Zhang¹, </a:t>
            </a:r>
            <a:r>
              <a:rPr kumimoji="1" lang="en" altLang="zh-CN" dirty="0" err="1"/>
              <a:t>Jiaxun</a:t>
            </a:r>
            <a:r>
              <a:rPr kumimoji="1" lang="en" altLang="zh-CN" dirty="0"/>
              <a:t> Huang¹, </a:t>
            </a:r>
            <a:r>
              <a:rPr kumimoji="1" lang="en" altLang="zh-CN" dirty="0" err="1"/>
              <a:t>Yuezheng</a:t>
            </a:r>
            <a:r>
              <a:rPr kumimoji="1" lang="en" altLang="zh-CN" dirty="0"/>
              <a:t> Liu¹, Xiaohe Hu², </a:t>
            </a:r>
            <a:r>
              <a:rPr kumimoji="1" lang="en" altLang="zh-CN" dirty="0" err="1"/>
              <a:t>Xudong</a:t>
            </a:r>
            <a:r>
              <a:rPr kumimoji="1" lang="en" altLang="zh-CN" dirty="0"/>
              <a:t> Liu¹, </a:t>
            </a:r>
            <a:r>
              <a:rPr kumimoji="1" lang="en" altLang="zh-CN" dirty="0" err="1"/>
              <a:t>Chunming</a:t>
            </a:r>
            <a:r>
              <a:rPr kumimoji="1" lang="en" altLang="zh-CN" dirty="0"/>
              <a:t> Hu¹</a:t>
            </a:r>
          </a:p>
          <a:p>
            <a:pPr>
              <a:spcAft>
                <a:spcPts val="1200"/>
              </a:spcAft>
            </a:pPr>
            <a:r>
              <a:rPr kumimoji="1" lang="en" altLang="zh-CN" dirty="0">
                <a:solidFill>
                  <a:schemeClr val="accent5"/>
                </a:solidFill>
              </a:rPr>
              <a:t>¹Beihang University</a:t>
            </a:r>
            <a:r>
              <a:rPr kumimoji="1" lang="en-US" altLang="zh-CN" dirty="0">
                <a:solidFill>
                  <a:schemeClr val="accent5"/>
                </a:solidFill>
              </a:rPr>
              <a:t>		²Infrawaves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60C867-D268-0271-F6EF-2F1C5862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82495" y="5173034"/>
            <a:ext cx="3567540" cy="81610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942A26F-234B-840E-C063-3D8962A88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621" y="4957284"/>
            <a:ext cx="1719582" cy="155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2A4E000E-004A-2C1B-9965-30A26EDE5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5171" y="5240009"/>
            <a:ext cx="2349643" cy="68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2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783CA-8F00-C1BB-6DD9-AA8EBE15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Large Language Models (LLMs) Grow Rapidly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26716D-CAB1-60FD-7CA0-631840A0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2</a:t>
            </a:fld>
            <a:endParaRPr kumimoji="1"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55B352B-7DF3-09EE-45BA-01953E78D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38"/>
          <a:stretch>
            <a:fillRect/>
          </a:stretch>
        </p:blipFill>
        <p:spPr>
          <a:xfrm>
            <a:off x="838200" y="1317166"/>
            <a:ext cx="10515600" cy="5175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4BAABB4-7519-BECA-D3CB-A00D4FD2D60A}"/>
              </a:ext>
            </a:extLst>
          </p:cNvPr>
          <p:cNvSpPr txBox="1"/>
          <p:nvPr/>
        </p:nvSpPr>
        <p:spPr>
          <a:xfrm>
            <a:off x="838200" y="6550223"/>
            <a:ext cx="10515600" cy="30777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[1]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Maslej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N, Fattorini L, Perrault R, et al. Artificial intelligence index report 2024.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arXiv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preprint arXiv:2405.19522, 2024.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6ED94131-B2F5-2882-6660-B0E33A34B2E2}"/>
              </a:ext>
            </a:extLst>
          </p:cNvPr>
          <p:cNvSpPr/>
          <p:nvPr/>
        </p:nvSpPr>
        <p:spPr>
          <a:xfrm>
            <a:off x="6096000" y="5223163"/>
            <a:ext cx="5043055" cy="720437"/>
          </a:xfrm>
          <a:prstGeom prst="rightArrow">
            <a:avLst>
              <a:gd name="adj1" fmla="val 66129"/>
              <a:gd name="adj2" fmla="val 50000"/>
            </a:avLst>
          </a:prstGeom>
          <a:gradFill flip="none" rotWithShape="1">
            <a:gsLst>
              <a:gs pos="40000">
                <a:srgbClr val="005BAD">
                  <a:alpha val="74964"/>
                </a:srgbClr>
              </a:gs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zh-CN" sz="2400" dirty="0"/>
              <a:t>Model sizes are surging.</a:t>
            </a:r>
            <a:endParaRPr kumimoji="1" lang="zh-CN" altLang="en-US" sz="2400" dirty="0"/>
          </a:p>
        </p:txBody>
      </p:sp>
      <p:sp>
        <p:nvSpPr>
          <p:cNvPr id="16" name="上箭头 15">
            <a:extLst>
              <a:ext uri="{FF2B5EF4-FFF2-40B4-BE49-F238E27FC236}">
                <a16:creationId xmlns:a16="http://schemas.microsoft.com/office/drawing/2014/main" id="{D4D2C0CC-754A-7936-3B5B-8CC6922C83D3}"/>
              </a:ext>
            </a:extLst>
          </p:cNvPr>
          <p:cNvSpPr/>
          <p:nvPr/>
        </p:nvSpPr>
        <p:spPr>
          <a:xfrm>
            <a:off x="1745672" y="2168236"/>
            <a:ext cx="720437" cy="2521527"/>
          </a:xfrm>
          <a:prstGeom prst="upArrow">
            <a:avLst/>
          </a:prstGeom>
          <a:gradFill flip="none" rotWithShape="1">
            <a:gsLst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EF3F82-C6B4-229F-61C4-08992FD7192E}"/>
              </a:ext>
            </a:extLst>
          </p:cNvPr>
          <p:cNvSpPr txBox="1"/>
          <p:nvPr/>
        </p:nvSpPr>
        <p:spPr>
          <a:xfrm>
            <a:off x="2466109" y="2228670"/>
            <a:ext cx="2799292" cy="120032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kumimoji="1" lang="en-US" altLang="zh-CN" sz="2400" dirty="0"/>
              <a:t>Consuming more</a:t>
            </a:r>
            <a:br>
              <a:rPr kumimoji="1" lang="en-US" altLang="zh-CN" sz="2400" dirty="0"/>
            </a:br>
            <a:r>
              <a:rPr kumimoji="1" lang="en-US" altLang="zh-CN" sz="2400" dirty="0"/>
              <a:t>computing resources</a:t>
            </a:r>
            <a:br>
              <a:rPr kumimoji="1" lang="en-US" altLang="zh-CN" sz="2400" dirty="0"/>
            </a:br>
            <a:r>
              <a:rPr kumimoji="1" lang="en-US" altLang="zh-CN" sz="2400" dirty="0"/>
              <a:t>&amp; training time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DC0BC6-B7DD-31F3-B0F5-A9C36DCC8D19}"/>
              </a:ext>
            </a:extLst>
          </p:cNvPr>
          <p:cNvSpPr txBox="1"/>
          <p:nvPr/>
        </p:nvSpPr>
        <p:spPr>
          <a:xfrm>
            <a:off x="2466109" y="3428999"/>
            <a:ext cx="25152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chemeClr val="accent5"/>
                </a:solidFill>
              </a:rPr>
              <a:t>thus causing more</a:t>
            </a:r>
            <a:br>
              <a:rPr kumimoji="1" lang="en-US" altLang="zh-CN" sz="2400" b="1" dirty="0">
                <a:solidFill>
                  <a:schemeClr val="accent5"/>
                </a:solidFill>
              </a:rPr>
            </a:br>
            <a:r>
              <a:rPr kumimoji="1" lang="en-US" altLang="zh-CN" sz="2400" b="1" dirty="0">
                <a:solidFill>
                  <a:schemeClr val="accent5"/>
                </a:solidFill>
              </a:rPr>
              <a:t>frequent failures!</a:t>
            </a:r>
          </a:p>
        </p:txBody>
      </p:sp>
    </p:spTree>
    <p:extLst>
      <p:ext uri="{BB962C8B-B14F-4D97-AF65-F5344CB8AC3E}">
        <p14:creationId xmlns:p14="http://schemas.microsoft.com/office/powerpoint/2010/main" val="132291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8AF9C-2643-38ED-4C55-5F3543B1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Costly Errors vs. Inefficient Recovery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72D87-2177-C750-4D70-0DC3636E1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08"/>
            <a:ext cx="10515600" cy="512211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kumimoji="1" lang="en" altLang="zh-CN" b="1" dirty="0">
                <a:solidFill>
                  <a:schemeClr val="accent5"/>
                </a:solidFill>
              </a:rPr>
              <a:t>Meta</a:t>
            </a:r>
            <a:r>
              <a:rPr kumimoji="1" lang="en" altLang="zh-CN" dirty="0"/>
              <a:t> used </a:t>
            </a:r>
            <a:r>
              <a:rPr kumimoji="1" lang="en" altLang="zh-CN" b="1" dirty="0">
                <a:solidFill>
                  <a:schemeClr val="accent5"/>
                </a:solidFill>
              </a:rPr>
              <a:t>992 NVIDIA A100s </a:t>
            </a:r>
            <a:r>
              <a:rPr kumimoji="1" lang="en" altLang="zh-CN" dirty="0"/>
              <a:t>to train </a:t>
            </a:r>
            <a:r>
              <a:rPr kumimoji="1" lang="en" altLang="zh-CN" b="1" dirty="0">
                <a:solidFill>
                  <a:schemeClr val="accent5"/>
                </a:solidFill>
              </a:rPr>
              <a:t>OPT-175B</a:t>
            </a:r>
            <a:r>
              <a:rPr kumimoji="1" lang="en" altLang="zh-CN" dirty="0"/>
              <a:t>.</a:t>
            </a:r>
          </a:p>
          <a:p>
            <a:pPr lvl="1"/>
            <a:r>
              <a:rPr kumimoji="1" lang="en" altLang="zh-CN" dirty="0"/>
              <a:t>Encountering about </a:t>
            </a:r>
            <a:r>
              <a:rPr kumimoji="1" lang="en" altLang="zh-CN" b="1" dirty="0">
                <a:solidFill>
                  <a:schemeClr val="accent5"/>
                </a:solidFill>
              </a:rPr>
              <a:t>110 errors </a:t>
            </a:r>
            <a:r>
              <a:rPr kumimoji="1" lang="en" altLang="zh-CN" dirty="0"/>
              <a:t>in </a:t>
            </a:r>
            <a:r>
              <a:rPr kumimoji="1" lang="en" altLang="zh-CN" b="1" dirty="0">
                <a:solidFill>
                  <a:schemeClr val="accent5"/>
                </a:solidFill>
              </a:rPr>
              <a:t>2 months,</a:t>
            </a:r>
          </a:p>
          <a:p>
            <a:pPr lvl="1"/>
            <a:r>
              <a:rPr kumimoji="1" lang="en" altLang="zh-CN" dirty="0"/>
              <a:t>Wasting </a:t>
            </a:r>
            <a:r>
              <a:rPr kumimoji="1" lang="en" altLang="zh-CN" b="1" dirty="0">
                <a:solidFill>
                  <a:schemeClr val="accent5"/>
                </a:solidFill>
              </a:rPr>
              <a:t>178,000 GPU hours</a:t>
            </a:r>
            <a:r>
              <a:rPr kumimoji="1" lang="en" altLang="zh-CN" dirty="0"/>
              <a:t> [1].</a:t>
            </a:r>
          </a:p>
          <a:p>
            <a:pPr>
              <a:spcBef>
                <a:spcPts val="600"/>
              </a:spcBef>
            </a:pPr>
            <a:r>
              <a:rPr kumimoji="1" lang="en" altLang="zh-CN" dirty="0"/>
              <a:t>Common recovery practice: </a:t>
            </a:r>
            <a:r>
              <a:rPr kumimoji="1" lang="en" altLang="zh-CN" b="1" dirty="0">
                <a:solidFill>
                  <a:schemeClr val="accent5"/>
                </a:solidFill>
              </a:rPr>
              <a:t>periodic checkpointing</a:t>
            </a:r>
            <a:r>
              <a:rPr kumimoji="1" lang="en" altLang="zh-CN" dirty="0"/>
              <a:t>.</a:t>
            </a:r>
          </a:p>
          <a:p>
            <a:pPr>
              <a:spcBef>
                <a:spcPts val="600"/>
              </a:spcBef>
            </a:pPr>
            <a:endParaRPr kumimoji="1" lang="en" altLang="zh-CN" dirty="0"/>
          </a:p>
          <a:p>
            <a:pPr>
              <a:spcBef>
                <a:spcPts val="600"/>
              </a:spcBef>
            </a:pPr>
            <a:endParaRPr kumimoji="1" lang="en" altLang="zh-CN" dirty="0"/>
          </a:p>
          <a:p>
            <a:pPr>
              <a:spcBef>
                <a:spcPts val="600"/>
              </a:spcBef>
            </a:pPr>
            <a:endParaRPr kumimoji="1" lang="en" altLang="zh-CN" dirty="0"/>
          </a:p>
          <a:p>
            <a:pPr lvl="1">
              <a:spcBef>
                <a:spcPts val="600"/>
              </a:spcBef>
            </a:pPr>
            <a:endParaRPr kumimoji="1" lang="en" altLang="zh-CN" dirty="0"/>
          </a:p>
          <a:p>
            <a:pPr lvl="1"/>
            <a:r>
              <a:rPr kumimoji="1" lang="en" altLang="zh-CN" dirty="0"/>
              <a:t>Lost iterations need replaying.</a:t>
            </a:r>
          </a:p>
          <a:p>
            <a:pPr lvl="1"/>
            <a:r>
              <a:rPr kumimoji="1" lang="en-US" altLang="zh-CN" dirty="0"/>
              <a:t>Require global task restarting &amp; checkpoint loading.</a:t>
            </a:r>
          </a:p>
          <a:p>
            <a:pPr lvl="1"/>
            <a:r>
              <a:rPr kumimoji="1" lang="en" altLang="zh-CN" dirty="0"/>
              <a:t>Saving checkpoints interferes with training progress.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51082F-8B24-77C8-4D98-95F3B001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3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B22124-6973-E7A9-A0A0-355C4E5C6B1E}"/>
              </a:ext>
            </a:extLst>
          </p:cNvPr>
          <p:cNvSpPr txBox="1"/>
          <p:nvPr/>
        </p:nvSpPr>
        <p:spPr>
          <a:xfrm>
            <a:off x="838200" y="6550223"/>
            <a:ext cx="10515600" cy="30777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[1] Zhang S, Roller S, Goyal N, et al.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Opt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: Open pre-trained transformer language models.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arXiv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preprint arXiv:2205.01068, 2022.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17D049B-845F-FE5E-291D-DBB268A88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7800" y="1628847"/>
            <a:ext cx="1016000" cy="1016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AC43115-BF15-542E-7CCC-95933ED338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37800" y="5311346"/>
            <a:ext cx="1016000" cy="1016000"/>
          </a:xfrm>
          <a:prstGeom prst="rect">
            <a:avLst/>
          </a:prstGeom>
        </p:spPr>
      </p:pic>
      <p:pic>
        <p:nvPicPr>
          <p:cNvPr id="16" name="图片 7">
            <a:extLst>
              <a:ext uri="{FF2B5EF4-FFF2-40B4-BE49-F238E27FC236}">
                <a16:creationId xmlns:a16="http://schemas.microsoft.com/office/drawing/2014/main" id="{196CBB50-0F76-8711-A8AC-A83DA416B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75"/>
          <a:stretch>
            <a:fillRect/>
          </a:stretch>
        </p:blipFill>
        <p:spPr bwMode="auto">
          <a:xfrm>
            <a:off x="1498075" y="3346960"/>
            <a:ext cx="9195850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56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7A9827C4-7E1B-31DF-D820-9FFAF7FDDE14}"/>
              </a:ext>
            </a:extLst>
          </p:cNvPr>
          <p:cNvCxnSpPr>
            <a:cxnSpLocks/>
          </p:cNvCxnSpPr>
          <p:nvPr/>
        </p:nvCxnSpPr>
        <p:spPr>
          <a:xfrm flipV="1">
            <a:off x="9623278" y="2287518"/>
            <a:ext cx="604139" cy="48046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E22A2695-C29D-8364-75FB-C79BC7C4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New Solution: Just-In-Time Checkpointing </a:t>
            </a:r>
            <a:r>
              <a:rPr kumimoji="1" lang="en-US" altLang="zh-CN" b="0" baseline="30000" dirty="0"/>
              <a:t>[1]</a:t>
            </a:r>
            <a:endParaRPr kumimoji="1" lang="zh-CN" altLang="en-US" b="0" baseline="30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3984C-00D9-1434-920C-0DA53CC2E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3212"/>
            <a:ext cx="10515600" cy="2363752"/>
          </a:xfrm>
        </p:spPr>
        <p:txBody>
          <a:bodyPr/>
          <a:lstStyle/>
          <a:p>
            <a:r>
              <a:rPr kumimoji="1" lang="en-US" altLang="zh-CN" dirty="0"/>
              <a:t>Key insight: </a:t>
            </a:r>
            <a:r>
              <a:rPr kumimoji="1" lang="en-US" altLang="zh-CN" b="1" dirty="0">
                <a:solidFill>
                  <a:schemeClr val="accent5"/>
                </a:solidFill>
              </a:rPr>
              <a:t>data parallelism (DP) </a:t>
            </a:r>
            <a:r>
              <a:rPr kumimoji="1" lang="en-US" altLang="zh-CN" dirty="0"/>
              <a:t>naturally provides model copies.</a:t>
            </a:r>
          </a:p>
          <a:p>
            <a:r>
              <a:rPr kumimoji="1" lang="en-US" altLang="zh-CN" dirty="0"/>
              <a:t>Shortcomings:</a:t>
            </a:r>
          </a:p>
          <a:p>
            <a:pPr lvl="1"/>
            <a:r>
              <a:rPr kumimoji="1" lang="en-US" altLang="zh-CN" b="1" dirty="0">
                <a:solidFill>
                  <a:schemeClr val="accent5"/>
                </a:solidFill>
              </a:rPr>
              <a:t>Excessive daily overhead </a:t>
            </a:r>
            <a:r>
              <a:rPr kumimoji="1" lang="en-US" altLang="zh-CN" dirty="0"/>
              <a:t>due to heavy mechanisms.</a:t>
            </a:r>
          </a:p>
          <a:p>
            <a:pPr lvl="1"/>
            <a:r>
              <a:rPr kumimoji="1" lang="en-US" altLang="zh-CN" b="1" dirty="0">
                <a:solidFill>
                  <a:schemeClr val="accent5"/>
                </a:solidFill>
              </a:rPr>
              <a:t>NCCL object recreations </a:t>
            </a:r>
            <a:r>
              <a:rPr kumimoji="1" lang="en-US" altLang="zh-CN" dirty="0"/>
              <a:t>consume</a:t>
            </a:r>
            <a:r>
              <a:rPr kumimoji="1" lang="zh-CN" altLang="en-US" dirty="0"/>
              <a:t> </a:t>
            </a:r>
            <a:r>
              <a:rPr kumimoji="1" lang="en-US" altLang="zh-CN" dirty="0"/>
              <a:t>a large amount of time (</a:t>
            </a:r>
            <a:r>
              <a:rPr kumimoji="1" lang="en-US" altLang="zh-CN" b="1" dirty="0">
                <a:solidFill>
                  <a:schemeClr val="accent5"/>
                </a:solidFill>
              </a:rPr>
              <a:t>up to 90% </a:t>
            </a:r>
            <a:r>
              <a:rPr kumimoji="1" lang="en-US" altLang="zh-CN" dirty="0"/>
              <a:t>of total recovery time) [1].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E9F565-BFAE-7EF4-02D4-99D28859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4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018254-F2F5-152B-7B5B-E76B7EDB8C76}"/>
              </a:ext>
            </a:extLst>
          </p:cNvPr>
          <p:cNvSpPr txBox="1"/>
          <p:nvPr/>
        </p:nvSpPr>
        <p:spPr>
          <a:xfrm>
            <a:off x="838200" y="6550222"/>
            <a:ext cx="10515600" cy="30777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[1] Gupta 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et al. Just-in-time checkpointing: Low cost error recovery from deep learning training failures.</a:t>
            </a:r>
            <a:r>
              <a:rPr lang="zh-CN" altLang="en-US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EuroSys’24.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93BB34B-CFBC-D3FA-74AC-20A1013E4F96}"/>
              </a:ext>
            </a:extLst>
          </p:cNvPr>
          <p:cNvGrpSpPr/>
          <p:nvPr/>
        </p:nvGrpSpPr>
        <p:grpSpPr>
          <a:xfrm>
            <a:off x="838200" y="1517988"/>
            <a:ext cx="2401331" cy="1960247"/>
            <a:chOff x="838200" y="1263722"/>
            <a:chExt cx="2401331" cy="1960247"/>
          </a:xfrm>
        </p:grpSpPr>
        <p:sp>
          <p:nvSpPr>
            <p:cNvPr id="15" name="框架 14">
              <a:extLst>
                <a:ext uri="{FF2B5EF4-FFF2-40B4-BE49-F238E27FC236}">
                  <a16:creationId xmlns:a16="http://schemas.microsoft.com/office/drawing/2014/main" id="{473071B2-4BCC-6DE2-3B00-64831D1CAF34}"/>
                </a:ext>
              </a:extLst>
            </p:cNvPr>
            <p:cNvSpPr/>
            <p:nvPr/>
          </p:nvSpPr>
          <p:spPr>
            <a:xfrm>
              <a:off x="1065987" y="1530432"/>
              <a:ext cx="1945758" cy="1432067"/>
            </a:xfrm>
            <a:prstGeom prst="frame">
              <a:avLst>
                <a:gd name="adj1" fmla="val 23481"/>
              </a:avLst>
            </a:prstGeom>
            <a:solidFill>
              <a:schemeClr val="accent5">
                <a:lumMod val="60000"/>
                <a:lumOff val="40000"/>
                <a:alpha val="2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F3651A6-3353-1F1A-BC78-22B963D21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8200" y="1263722"/>
              <a:ext cx="898596" cy="89859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FDE14F8-A835-4C7C-9473-A05BCAEEE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8200" y="2320134"/>
              <a:ext cx="898596" cy="89859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FA1B681-5F9F-DFAD-7B91-BC908ECE1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340935" y="1263722"/>
              <a:ext cx="898596" cy="898596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B8779C1-373A-E7C5-AF25-965E8F83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340935" y="2325373"/>
              <a:ext cx="898596" cy="898596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61251E-FF7F-A6D7-6AA9-587FC8754458}"/>
                </a:ext>
              </a:extLst>
            </p:cNvPr>
            <p:cNvSpPr txBox="1"/>
            <p:nvPr/>
          </p:nvSpPr>
          <p:spPr>
            <a:xfrm>
              <a:off x="1495544" y="2061799"/>
              <a:ext cx="10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i="1" dirty="0"/>
                <a:t>DP Group</a:t>
              </a:r>
              <a:endParaRPr kumimoji="1" lang="zh-CN" altLang="en-US" i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71AC89-7999-1B3C-4536-1085984CAB67}"/>
              </a:ext>
            </a:extLst>
          </p:cNvPr>
          <p:cNvGrpSpPr/>
          <p:nvPr/>
        </p:nvGrpSpPr>
        <p:grpSpPr>
          <a:xfrm>
            <a:off x="8724682" y="1520607"/>
            <a:ext cx="2401331" cy="1960247"/>
            <a:chOff x="8724682" y="1520607"/>
            <a:chExt cx="2401331" cy="1960247"/>
          </a:xfrm>
        </p:grpSpPr>
        <p:sp>
          <p:nvSpPr>
            <p:cNvPr id="27" name="框架 26">
              <a:extLst>
                <a:ext uri="{FF2B5EF4-FFF2-40B4-BE49-F238E27FC236}">
                  <a16:creationId xmlns:a16="http://schemas.microsoft.com/office/drawing/2014/main" id="{26961F3E-0BE1-521E-4328-AFF5497C4FF8}"/>
                </a:ext>
              </a:extLst>
            </p:cNvPr>
            <p:cNvSpPr/>
            <p:nvPr/>
          </p:nvSpPr>
          <p:spPr>
            <a:xfrm>
              <a:off x="8952469" y="1787317"/>
              <a:ext cx="1945758" cy="1432067"/>
            </a:xfrm>
            <a:prstGeom prst="frame">
              <a:avLst>
                <a:gd name="adj1" fmla="val 23481"/>
              </a:avLst>
            </a:prstGeom>
            <a:solidFill>
              <a:schemeClr val="accent5">
                <a:lumMod val="60000"/>
                <a:lumOff val="40000"/>
                <a:alpha val="2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47401595-EEC6-27D5-2CC6-8CC350A8B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724682" y="1520607"/>
              <a:ext cx="898596" cy="898596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5490461E-B52F-8348-8665-253CD785D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724682" y="2577019"/>
              <a:ext cx="898596" cy="898596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E296FC9C-E44D-F113-94E9-849E3C580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227417" y="1520607"/>
              <a:ext cx="898596" cy="898596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FFC4A2F7-3039-D66A-7F8C-416D2DA7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0227417" y="2582258"/>
              <a:ext cx="898596" cy="898596"/>
            </a:xfrm>
            <a:prstGeom prst="rect">
              <a:avLst/>
            </a:prstGeom>
          </p:spPr>
        </p:pic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068F41F8-6564-AB3E-2A3F-6AE32F7ACB23}"/>
              </a:ext>
            </a:extLst>
          </p:cNvPr>
          <p:cNvSpPr txBox="1"/>
          <p:nvPr/>
        </p:nvSpPr>
        <p:spPr>
          <a:xfrm>
            <a:off x="9164434" y="2318684"/>
            <a:ext cx="1521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/>
              <a:t>Provide copies</a:t>
            </a:r>
            <a:endParaRPr kumimoji="1" lang="zh-CN" altLang="en-US" i="1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1DB4EE10-3B87-6CFC-28C3-877397AFECC1}"/>
              </a:ext>
            </a:extLst>
          </p:cNvPr>
          <p:cNvCxnSpPr>
            <a:endCxn id="30" idx="1"/>
          </p:cNvCxnSpPr>
          <p:nvPr/>
        </p:nvCxnSpPr>
        <p:spPr>
          <a:xfrm>
            <a:off x="9623278" y="1967286"/>
            <a:ext cx="604139" cy="261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5107414B-F1F1-45DB-C9E1-CD317A95268C}"/>
              </a:ext>
            </a:extLst>
          </p:cNvPr>
          <p:cNvCxnSpPr>
            <a:cxnSpLocks/>
          </p:cNvCxnSpPr>
          <p:nvPr/>
        </p:nvCxnSpPr>
        <p:spPr>
          <a:xfrm flipV="1">
            <a:off x="10723531" y="2305133"/>
            <a:ext cx="0" cy="48046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右箭头 40">
            <a:extLst>
              <a:ext uri="{FF2B5EF4-FFF2-40B4-BE49-F238E27FC236}">
                <a16:creationId xmlns:a16="http://schemas.microsoft.com/office/drawing/2014/main" id="{0CDFD85B-E894-22DD-DC48-EC88F8670845}"/>
              </a:ext>
            </a:extLst>
          </p:cNvPr>
          <p:cNvSpPr/>
          <p:nvPr/>
        </p:nvSpPr>
        <p:spPr>
          <a:xfrm>
            <a:off x="3419199" y="2114768"/>
            <a:ext cx="1285707" cy="771926"/>
          </a:xfrm>
          <a:prstGeom prst="rightArrow">
            <a:avLst>
              <a:gd name="adj1" fmla="val 68509"/>
              <a:gd name="adj2" fmla="val 31491"/>
            </a:avLst>
          </a:prstGeom>
          <a:gradFill>
            <a:gsLst>
              <a:gs pos="25000">
                <a:srgbClr val="005BAD">
                  <a:alpha val="60000"/>
                </a:srgbClr>
              </a:gs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zh-CN" sz="2000" dirty="0"/>
              <a:t>Error</a:t>
            </a:r>
            <a:endParaRPr kumimoji="1" lang="zh-CN" altLang="en-US" dirty="0"/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1B6A37D4-6988-25F0-3791-0171E26B6A59}"/>
              </a:ext>
            </a:extLst>
          </p:cNvPr>
          <p:cNvSpPr/>
          <p:nvPr/>
        </p:nvSpPr>
        <p:spPr>
          <a:xfrm>
            <a:off x="7413444" y="2114768"/>
            <a:ext cx="1285707" cy="771926"/>
          </a:xfrm>
          <a:prstGeom prst="rightArrow">
            <a:avLst>
              <a:gd name="adj1" fmla="val 68509"/>
              <a:gd name="adj2" fmla="val 31491"/>
            </a:avLst>
          </a:prstGeom>
          <a:gradFill>
            <a:gsLst>
              <a:gs pos="25000">
                <a:srgbClr val="005BAD">
                  <a:alpha val="60000"/>
                </a:srgbClr>
              </a:gs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zh-CN" sz="2000" dirty="0"/>
              <a:t>Recover</a:t>
            </a:r>
            <a:endParaRPr kumimoji="1"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88AFAD0-CCBE-B823-B0AC-B29777A3A09B}"/>
              </a:ext>
            </a:extLst>
          </p:cNvPr>
          <p:cNvGrpSpPr/>
          <p:nvPr/>
        </p:nvGrpSpPr>
        <p:grpSpPr>
          <a:xfrm>
            <a:off x="4826270" y="1512749"/>
            <a:ext cx="2401331" cy="1960247"/>
            <a:chOff x="838200" y="1263722"/>
            <a:chExt cx="2401331" cy="1960247"/>
          </a:xfrm>
        </p:grpSpPr>
        <p:sp>
          <p:nvSpPr>
            <p:cNvPr id="51" name="框架 50">
              <a:extLst>
                <a:ext uri="{FF2B5EF4-FFF2-40B4-BE49-F238E27FC236}">
                  <a16:creationId xmlns:a16="http://schemas.microsoft.com/office/drawing/2014/main" id="{ADE6D3C1-ED6A-CF2B-20C3-75493D0AB0DC}"/>
                </a:ext>
              </a:extLst>
            </p:cNvPr>
            <p:cNvSpPr/>
            <p:nvPr/>
          </p:nvSpPr>
          <p:spPr>
            <a:xfrm>
              <a:off x="1065987" y="1530432"/>
              <a:ext cx="1945758" cy="1432067"/>
            </a:xfrm>
            <a:prstGeom prst="frame">
              <a:avLst>
                <a:gd name="adj1" fmla="val 23481"/>
              </a:avLst>
            </a:prstGeom>
            <a:solidFill>
              <a:schemeClr val="bg2">
                <a:alpha val="2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A81DCB81-1125-64C4-8582-FFC1ADBD0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8200" y="1263722"/>
              <a:ext cx="898596" cy="898596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E23667FD-4627-AF73-2BBD-38C5FC97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8200" y="2320134"/>
              <a:ext cx="898596" cy="898596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205898A5-6A23-94D5-73EA-24687274D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2340935" y="1263722"/>
              <a:ext cx="898596" cy="898596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5C9F1959-A0D8-8AC4-7A79-51EF6E072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340935" y="2325373"/>
              <a:ext cx="898596" cy="898596"/>
            </a:xfrm>
            <a:prstGeom prst="rect">
              <a:avLst/>
            </a:prstGeom>
          </p:spPr>
        </p:pic>
      </p:grpSp>
      <p:pic>
        <p:nvPicPr>
          <p:cNvPr id="25" name="图片 24" descr="图标&#10;&#10;AI 生成的内容可能不正确。">
            <a:extLst>
              <a:ext uri="{FF2B5EF4-FFF2-40B4-BE49-F238E27FC236}">
                <a16:creationId xmlns:a16="http://schemas.microsoft.com/office/drawing/2014/main" id="{76BA122F-C0DA-48F5-04D4-653FC41DE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959" y="1675804"/>
            <a:ext cx="640464" cy="640464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898C26D2-362A-CFD9-029A-1D44589CCFEB}"/>
              </a:ext>
            </a:extLst>
          </p:cNvPr>
          <p:cNvSpPr txBox="1"/>
          <p:nvPr/>
        </p:nvSpPr>
        <p:spPr>
          <a:xfrm>
            <a:off x="4774035" y="2318684"/>
            <a:ext cx="250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/>
              <a:t>Healthy ranks keep alive.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14070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3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6" dur="indefinite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9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1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4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7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0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3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 animBg="1"/>
      <p:bldP spid="41" grpId="1" animBg="1"/>
      <p:bldP spid="42" grpId="0" animBg="1"/>
      <p:bldP spid="42" grpId="1" animBg="1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11209-3778-184E-CBAF-A00E0B93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Our Solution: </a:t>
            </a:r>
            <a:r>
              <a:rPr kumimoji="1" lang="en" altLang="zh-CN" cap="small" dirty="0"/>
              <a:t>Mnemosyne</a:t>
            </a:r>
            <a:endParaRPr kumimoji="1" lang="zh-CN" altLang="en-US" cap="small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696C9-A26D-3D7A-F49E-1D29B37DF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accent5"/>
                </a:solidFill>
              </a:rPr>
              <a:t>Transparent</a:t>
            </a:r>
            <a:r>
              <a:rPr kumimoji="1" lang="en" altLang="zh-CN" dirty="0"/>
              <a:t> and </a:t>
            </a:r>
            <a:r>
              <a:rPr kumimoji="1" lang="en" altLang="zh-CN" b="1" dirty="0">
                <a:solidFill>
                  <a:schemeClr val="accent5"/>
                </a:solidFill>
              </a:rPr>
              <a:t>periodic-checkpointing-free</a:t>
            </a:r>
            <a:r>
              <a:rPr kumimoji="1" lang="en" altLang="zh-CN" dirty="0"/>
              <a:t> recovery</a:t>
            </a:r>
            <a:r>
              <a:rPr kumimoji="1" lang="en-US" altLang="zh-CN" dirty="0"/>
              <a:t>.</a:t>
            </a:r>
          </a:p>
          <a:p>
            <a:r>
              <a:rPr kumimoji="1" lang="en" altLang="zh-CN" dirty="0"/>
              <a:t>Mechanisms </a:t>
            </a:r>
            <a:r>
              <a:rPr kumimoji="1" lang="en" altLang="zh-CN" b="1" dirty="0">
                <a:solidFill>
                  <a:schemeClr val="accent5"/>
                </a:solidFill>
              </a:rPr>
              <a:t>tailored for error recovery </a:t>
            </a:r>
            <a:r>
              <a:rPr kumimoji="1" lang="en" altLang="zh-CN" dirty="0"/>
              <a:t>to minimize daily overhead.</a:t>
            </a:r>
            <a:endParaRPr kumimoji="1" lang="en-US" altLang="zh-CN" dirty="0"/>
          </a:p>
          <a:p>
            <a:r>
              <a:rPr kumimoji="1" lang="en" altLang="zh-CN" dirty="0"/>
              <a:t>Support for </a:t>
            </a:r>
            <a:r>
              <a:rPr kumimoji="1" lang="en" altLang="zh-CN" b="1" dirty="0">
                <a:solidFill>
                  <a:schemeClr val="accent5"/>
                </a:solidFill>
              </a:rPr>
              <a:t>runtime adjustment </a:t>
            </a:r>
            <a:r>
              <a:rPr kumimoji="1" lang="en" altLang="zh-CN" dirty="0"/>
              <a:t>of collective communication groups.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03B27-7A13-4D90-7D9E-8F2B2938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15B90239-241F-B2F9-5E3E-6593E911E4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24"/>
          <a:stretch>
            <a:fillRect/>
          </a:stretch>
        </p:blipFill>
        <p:spPr>
          <a:xfrm>
            <a:off x="1309267" y="3208965"/>
            <a:ext cx="3589079" cy="3024000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5C9E8603-9832-5A2F-BA2A-D811E02A7F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39"/>
          <a:stretch>
            <a:fillRect/>
          </a:stretch>
        </p:blipFill>
        <p:spPr>
          <a:xfrm>
            <a:off x="6096000" y="2992965"/>
            <a:ext cx="4808096" cy="3240000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CB062E47-83A3-4F0A-2343-D245A084D389}"/>
              </a:ext>
            </a:extLst>
          </p:cNvPr>
          <p:cNvSpPr txBox="1"/>
          <p:nvPr/>
        </p:nvSpPr>
        <p:spPr>
          <a:xfrm>
            <a:off x="2095839" y="6232965"/>
            <a:ext cx="20159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accent5"/>
                </a:solidFill>
              </a:rPr>
              <a:t>Figure a: </a:t>
            </a:r>
            <a:r>
              <a:rPr kumimoji="1" lang="en-US" altLang="zh-CN" sz="1600" dirty="0"/>
              <a:t>Steady state.</a:t>
            </a:r>
            <a:endParaRPr kumimoji="1" lang="zh-CN" altLang="en-US" sz="16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661239C-5D8B-6EA4-86C3-96FDC4B72DB8}"/>
              </a:ext>
            </a:extLst>
          </p:cNvPr>
          <p:cNvSpPr txBox="1"/>
          <p:nvPr/>
        </p:nvSpPr>
        <p:spPr>
          <a:xfrm>
            <a:off x="6981844" y="6232965"/>
            <a:ext cx="3036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accent5"/>
                </a:solidFill>
              </a:rPr>
              <a:t>Figure b: </a:t>
            </a:r>
            <a:r>
              <a:rPr kumimoji="1" lang="en-US" altLang="zh-CN" sz="1600" dirty="0"/>
              <a:t>Recovery with migration.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6051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B7F72-C214-4531-FACF-373941F5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Workflow #1: Steady-State Work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E3503-84CB-B47F-521E-A10923ED2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08"/>
            <a:ext cx="6353175" cy="4748855"/>
          </a:xfrm>
        </p:spPr>
        <p:txBody>
          <a:bodyPr anchor="ctr">
            <a:normAutofit/>
          </a:bodyPr>
          <a:lstStyle/>
          <a:p>
            <a:pPr>
              <a:spcBef>
                <a:spcPts val="1200"/>
              </a:spcBef>
            </a:pPr>
            <a:r>
              <a:rPr kumimoji="1" lang="en-US" altLang="zh-CN" sz="2400" dirty="0"/>
              <a:t>The training task is </a:t>
            </a:r>
            <a:r>
              <a:rPr kumimoji="1" lang="en-US" altLang="zh-CN" sz="2400" dirty="0" err="1"/>
              <a:t>splited</a:t>
            </a:r>
            <a:r>
              <a:rPr kumimoji="1" lang="en-US" altLang="zh-CN" sz="2400" dirty="0"/>
              <a:t> into two processes, the </a:t>
            </a:r>
            <a:r>
              <a:rPr kumimoji="1" lang="en-US" altLang="zh-CN" sz="2400" b="1" i="1" dirty="0">
                <a:solidFill>
                  <a:schemeClr val="accent5"/>
                </a:solidFill>
              </a:rPr>
              <a:t>client</a:t>
            </a:r>
            <a:r>
              <a:rPr kumimoji="1" lang="en-US" altLang="zh-CN" sz="2400" dirty="0"/>
              <a:t> and the </a:t>
            </a:r>
            <a:r>
              <a:rPr kumimoji="1" lang="en-US" altLang="zh-CN" sz="2400" b="1" i="1" dirty="0">
                <a:solidFill>
                  <a:schemeClr val="accent5"/>
                </a:solidFill>
              </a:rPr>
              <a:t>server</a:t>
            </a:r>
            <a:r>
              <a:rPr kumimoji="1" lang="en-US" altLang="zh-CN" sz="2400" dirty="0"/>
              <a:t>, to isolate GPU context for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transparent recovery</a:t>
            </a:r>
            <a:r>
              <a:rPr kumimoji="1" lang="en-US" altLang="zh-CN" sz="2400" dirty="0"/>
              <a:t>.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dirty="0"/>
              <a:t>All </a:t>
            </a:r>
            <a:r>
              <a:rPr kumimoji="1" lang="en-US" altLang="zh-CN" sz="2400" dirty="0" err="1"/>
              <a:t>cuda</a:t>
            </a:r>
            <a:r>
              <a:rPr kumimoji="1" lang="en-US" altLang="zh-CN" sz="2400" dirty="0"/>
              <a:t>-related API calls in the current iteration are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logged</a:t>
            </a:r>
            <a:r>
              <a:rPr kumimoji="1" lang="en-US" altLang="zh-CN" sz="2400" dirty="0"/>
              <a:t> for recovery.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dirty="0"/>
              <a:t>Errors are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detected</a:t>
            </a:r>
            <a:r>
              <a:rPr kumimoji="1" lang="en-US" altLang="zh-CN" sz="2400" dirty="0"/>
              <a:t> and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halted</a:t>
            </a:r>
            <a:r>
              <a:rPr kumimoji="1" lang="en-US" altLang="zh-CN" sz="2400" dirty="0"/>
              <a:t> by the </a:t>
            </a:r>
            <a:r>
              <a:rPr kumimoji="1" lang="en-US" altLang="zh-CN" sz="2400" b="1" i="1" dirty="0">
                <a:solidFill>
                  <a:schemeClr val="accent2"/>
                </a:solidFill>
              </a:rPr>
              <a:t>device proxy</a:t>
            </a:r>
            <a:r>
              <a:rPr kumimoji="1" lang="en-US" altLang="zh-CN" sz="2400" dirty="0"/>
              <a:t> to prevent propagation to the upper training framework.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dirty="0"/>
              <a:t>The</a:t>
            </a:r>
            <a:r>
              <a:rPr kumimoji="1" lang="en-US" altLang="zh-CN" sz="2400" i="1" dirty="0"/>
              <a:t> client</a:t>
            </a:r>
            <a:r>
              <a:rPr kumimoji="1" lang="en-US" altLang="zh-CN" sz="2400" dirty="0"/>
              <a:t> process is still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alive</a:t>
            </a:r>
            <a:r>
              <a:rPr kumimoji="1" lang="en-US" altLang="zh-CN" sz="2400" dirty="0"/>
              <a:t> after errors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occurring, while the </a:t>
            </a:r>
            <a:r>
              <a:rPr kumimoji="1" lang="en-US" altLang="zh-CN" sz="2400" i="1" dirty="0"/>
              <a:t>server</a:t>
            </a:r>
            <a:r>
              <a:rPr kumimoji="1" lang="en-US" altLang="zh-CN" sz="2400" dirty="0"/>
              <a:t> process is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restarted</a:t>
            </a:r>
            <a:r>
              <a:rPr kumimoji="1" lang="en-US" altLang="zh-CN" sz="2400" dirty="0"/>
              <a:t>.</a:t>
            </a:r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D923A-005E-9EC0-07DA-ACD8DB19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C68D12-F980-BD08-6AB3-711142A4E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24"/>
          <a:stretch>
            <a:fillRect/>
          </a:stretch>
        </p:blipFill>
        <p:spPr>
          <a:xfrm>
            <a:off x="7191375" y="2048997"/>
            <a:ext cx="4162425" cy="350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6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3DEB9-7E0B-1A4A-34EC-A880A822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Key Component #1: Device Proxy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4C3054-D5FD-70C8-3C82-80668042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08"/>
            <a:ext cx="6411686" cy="4748855"/>
          </a:xfrm>
        </p:spPr>
        <p:txBody>
          <a:bodyPr anchor="ctr"/>
          <a:lstStyle/>
          <a:p>
            <a:r>
              <a:rPr kumimoji="1" lang="en-US" altLang="zh-CN" b="1" dirty="0">
                <a:solidFill>
                  <a:schemeClr val="accent5"/>
                </a:solidFill>
              </a:rPr>
              <a:t>GPU context</a:t>
            </a:r>
            <a:r>
              <a:rPr kumimoji="1" lang="en-US" altLang="zh-CN" dirty="0"/>
              <a:t> are </a:t>
            </a:r>
            <a:r>
              <a:rPr kumimoji="1" lang="en-US" altLang="zh-CN" b="1" dirty="0">
                <a:solidFill>
                  <a:schemeClr val="accent5"/>
                </a:solidFill>
              </a:rPr>
              <a:t>decoupled </a:t>
            </a:r>
            <a:r>
              <a:rPr kumimoji="1" lang="en-US" altLang="zh-CN" dirty="0"/>
              <a:t>via </a:t>
            </a:r>
            <a:r>
              <a:rPr kumimoji="1" lang="en-US" altLang="zh-CN" b="1" dirty="0">
                <a:solidFill>
                  <a:schemeClr val="accent5"/>
                </a:solidFill>
              </a:rPr>
              <a:t>dual-process</a:t>
            </a:r>
            <a:r>
              <a:rPr kumimoji="1" lang="en-US" altLang="zh-CN" dirty="0"/>
              <a:t> architecture.</a:t>
            </a:r>
          </a:p>
          <a:p>
            <a:pPr lvl="1"/>
            <a:r>
              <a:rPr kumimoji="1" lang="en-US" altLang="zh-CN" b="1" dirty="0">
                <a:solidFill>
                  <a:schemeClr val="accent2"/>
                </a:solidFill>
              </a:rPr>
              <a:t>Client: </a:t>
            </a:r>
            <a:r>
              <a:rPr kumimoji="1" lang="en-US" altLang="zh-CN" dirty="0"/>
              <a:t>API interception and forwarding, error interception, daily work (e.g., logging).</a:t>
            </a:r>
          </a:p>
          <a:p>
            <a:pPr lvl="1"/>
            <a:r>
              <a:rPr kumimoji="1" lang="en-US" altLang="zh-CN" b="1" dirty="0">
                <a:solidFill>
                  <a:schemeClr val="accent2"/>
                </a:solidFill>
              </a:rPr>
              <a:t>Server: </a:t>
            </a:r>
            <a:r>
              <a:rPr kumimoji="1" lang="en-US" altLang="zh-CN" dirty="0"/>
              <a:t>API execution.</a:t>
            </a:r>
          </a:p>
          <a:p>
            <a:r>
              <a:rPr kumimoji="1" lang="en-US" altLang="zh-CN" dirty="0"/>
              <a:t>Key mechanisms:</a:t>
            </a:r>
          </a:p>
          <a:p>
            <a:pPr lvl="1"/>
            <a:r>
              <a:rPr kumimoji="1" lang="en-US" altLang="zh-CN" dirty="0"/>
              <a:t>Shared-memory-based IPC.</a:t>
            </a:r>
          </a:p>
          <a:p>
            <a:pPr lvl="1"/>
            <a:r>
              <a:rPr kumimoji="1" lang="en-US" altLang="zh-CN" dirty="0"/>
              <a:t>Call interception via </a:t>
            </a:r>
            <a:r>
              <a:rPr kumimoji="1" lang="en-US" altLang="zh-CN" i="1" dirty="0"/>
              <a:t>LD_PRELOAD </a:t>
            </a:r>
            <a:r>
              <a:rPr kumimoji="1" lang="en-US" altLang="zh-CN" dirty="0"/>
              <a:t>[1].</a:t>
            </a:r>
          </a:p>
          <a:p>
            <a:pPr lvl="1"/>
            <a:r>
              <a:rPr kumimoji="1" lang="en" altLang="zh-CN" dirty="0"/>
              <a:t>Index-based handle mapping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FB4FF4-764A-E5CE-FF7F-052B382C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E5738B-815C-3871-F414-53D3961DF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793" y="1574372"/>
            <a:ext cx="3956007" cy="44563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8AB5D3-F69C-3958-1829-84A56FCA6150}"/>
              </a:ext>
            </a:extLst>
          </p:cNvPr>
          <p:cNvSpPr txBox="1"/>
          <p:nvPr/>
        </p:nvSpPr>
        <p:spPr>
          <a:xfrm>
            <a:off x="838200" y="6550223"/>
            <a:ext cx="10515600" cy="30777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[1] Linux manual page. 2024.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ld.so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. https://man7.org/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linux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/man-pages/man8/ld.so.8.html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1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860DA-5885-0237-DFFD-D545D3E4F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Workflow #2: Recovery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7B3E04-6BF7-9123-BF3A-C091F4D43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08"/>
            <a:ext cx="4757057" cy="4748855"/>
          </a:xfrm>
        </p:spPr>
        <p:txBody>
          <a:bodyPr anchor="ctr">
            <a:normAutofit/>
          </a:bodyPr>
          <a:lstStyle/>
          <a:p>
            <a:pPr>
              <a:spcBef>
                <a:spcPts val="1200"/>
              </a:spcBef>
            </a:pPr>
            <a:r>
              <a:rPr kumimoji="1" lang="en-US" altLang="zh-CN" sz="2400" dirty="0"/>
              <a:t>For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recoverable errors</a:t>
            </a:r>
            <a:r>
              <a:rPr kumimoji="1" lang="en-US" altLang="zh-CN" sz="2400" dirty="0"/>
              <a:t>, recovery happens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in place</a:t>
            </a:r>
            <a:r>
              <a:rPr kumimoji="1" lang="en-US" altLang="zh-CN" sz="2400" dirty="0"/>
              <a:t>; for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hardware errors</a:t>
            </a:r>
            <a:r>
              <a:rPr kumimoji="1" lang="en-US" altLang="zh-CN" sz="2400" dirty="0"/>
              <a:t> (rare), recovery needs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migration</a:t>
            </a:r>
            <a:r>
              <a:rPr kumimoji="1" lang="en-US" altLang="zh-CN" sz="2400" dirty="0"/>
              <a:t>.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dirty="0"/>
              <a:t>In migration, CPU state is saved with </a:t>
            </a:r>
            <a:r>
              <a:rPr kumimoji="1" lang="en-US" altLang="zh-CN" sz="2400" b="1" dirty="0">
                <a:solidFill>
                  <a:schemeClr val="accent5"/>
                </a:solidFill>
              </a:rPr>
              <a:t>CRIU</a:t>
            </a:r>
            <a:r>
              <a:rPr kumimoji="1" lang="en-US" altLang="zh-CN" sz="2400" dirty="0"/>
              <a:t> [1] then transferred.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dirty="0"/>
              <a:t>The GPU state (model) is pulled from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 same DP group’s replicas.</a:t>
            </a:r>
          </a:p>
          <a:p>
            <a:pPr>
              <a:spcBef>
                <a:spcPts val="1200"/>
              </a:spcBef>
            </a:pPr>
            <a:r>
              <a:rPr kumimoji="1" lang="en-US" altLang="zh-CN" sz="2400" b="1" i="1" dirty="0">
                <a:solidFill>
                  <a:schemeClr val="accent2"/>
                </a:solidFill>
              </a:rPr>
              <a:t>Flexible CCL </a:t>
            </a:r>
            <a:r>
              <a:rPr kumimoji="1" lang="en-US" altLang="zh-CN" sz="2400" dirty="0"/>
              <a:t>helps with fast NCCL object recreations.</a:t>
            </a:r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55F027-9879-A291-9B29-98B0AEAD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8198D7-8BF6-83D2-42B4-85DC3C5B0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9"/>
          <a:stretch>
            <a:fillRect/>
          </a:stretch>
        </p:blipFill>
        <p:spPr>
          <a:xfrm>
            <a:off x="5772150" y="1921900"/>
            <a:ext cx="5581650" cy="37612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039077D-0BDA-0265-BC07-2670D53EE395}"/>
              </a:ext>
            </a:extLst>
          </p:cNvPr>
          <p:cNvSpPr txBox="1"/>
          <p:nvPr/>
        </p:nvSpPr>
        <p:spPr>
          <a:xfrm>
            <a:off x="838200" y="6550222"/>
            <a:ext cx="10515600" cy="30777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[1] CRIU. 2024. Checkpoint/Restore in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Userspace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. https://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criu.org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Main_Page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21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A3A3A-9D01-FD0B-F52E-DBDBCAE1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Key Component #2: Flexible CCL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BCCD9-D2EA-33A4-CA40-19A9F946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0DE72B5-4ED2-8FEE-AB5F-8A41E8C6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08"/>
            <a:ext cx="7612881" cy="5064766"/>
          </a:xfrm>
        </p:spPr>
        <p:txBody>
          <a:bodyPr anchor="t">
            <a:normAutofit/>
          </a:bodyPr>
          <a:lstStyle/>
          <a:p>
            <a:r>
              <a:rPr lang="en-US" altLang="zh-CN" dirty="0"/>
              <a:t>Capabilities:</a:t>
            </a:r>
          </a:p>
          <a:p>
            <a:pPr lvl="1"/>
            <a:r>
              <a:rPr lang="en-US" altLang="zh-CN" b="1" dirty="0">
                <a:solidFill>
                  <a:schemeClr val="accent5"/>
                </a:solidFill>
              </a:rPr>
              <a:t>Add</a:t>
            </a:r>
            <a:r>
              <a:rPr lang="en-US" altLang="zh-CN" dirty="0"/>
              <a:t> or </a:t>
            </a:r>
            <a:r>
              <a:rPr lang="en-US" altLang="zh-CN" b="1" dirty="0">
                <a:solidFill>
                  <a:schemeClr val="accent5"/>
                </a:solidFill>
              </a:rPr>
              <a:t>remove</a:t>
            </a:r>
            <a:r>
              <a:rPr lang="en-US" altLang="zh-CN" dirty="0"/>
              <a:t> ranks from a built NCCL communication group</a:t>
            </a:r>
            <a:r>
              <a:rPr lang="zh-CN" altLang="en-US" dirty="0"/>
              <a:t> </a:t>
            </a:r>
            <a:r>
              <a:rPr lang="en-US" altLang="zh-CN" dirty="0"/>
              <a:t>in the runtime.</a:t>
            </a:r>
          </a:p>
          <a:p>
            <a:pPr lvl="1"/>
            <a:r>
              <a:rPr lang="en-US" altLang="zh-CN" b="1" dirty="0">
                <a:solidFill>
                  <a:schemeClr val="accent5"/>
                </a:solidFill>
              </a:rPr>
              <a:t>Retain most resources </a:t>
            </a:r>
            <a:r>
              <a:rPr lang="en-US" altLang="zh-CN" dirty="0"/>
              <a:t>(e.g. channels) for efficiency.</a:t>
            </a:r>
          </a:p>
          <a:p>
            <a:r>
              <a:rPr lang="en-US" altLang="zh-CN" dirty="0"/>
              <a:t>Key observations: </a:t>
            </a:r>
          </a:p>
          <a:p>
            <a:pPr lvl="1"/>
            <a:r>
              <a:rPr lang="en-US" altLang="zh-CN" dirty="0"/>
              <a:t>First initialization collects complete global information.</a:t>
            </a:r>
          </a:p>
          <a:p>
            <a:pPr lvl="1"/>
            <a:r>
              <a:rPr lang="en-US" altLang="zh-CN" dirty="0"/>
              <a:t>Adjustments only need incremental data exchange.</a:t>
            </a:r>
          </a:p>
          <a:p>
            <a:r>
              <a:rPr lang="en-US" altLang="zh-CN" dirty="0"/>
              <a:t>Mechanisms:</a:t>
            </a:r>
          </a:p>
          <a:p>
            <a:pPr lvl="1"/>
            <a:r>
              <a:rPr lang="en" altLang="zh-CN" dirty="0"/>
              <a:t>Compatibility-preserved APIs.</a:t>
            </a:r>
          </a:p>
          <a:p>
            <a:pPr lvl="1"/>
            <a:r>
              <a:rPr lang="en" altLang="zh-CN" dirty="0"/>
              <a:t>Metadata-driven initialization.</a:t>
            </a:r>
          </a:p>
          <a:p>
            <a:pPr lvl="1"/>
            <a:r>
              <a:rPr lang="en" altLang="zh-CN" dirty="0"/>
              <a:t>Strategy for runtime communicator modification.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78B7CC-D134-52B9-2B9F-003F2E7457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5" b="11950"/>
          <a:stretch>
            <a:fillRect/>
          </a:stretch>
        </p:blipFill>
        <p:spPr>
          <a:xfrm>
            <a:off x="8605246" y="1756714"/>
            <a:ext cx="898596" cy="6826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657D968-163C-D9FF-4AF7-9E8657815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17" b="12017"/>
          <a:stretch/>
        </p:blipFill>
        <p:spPr>
          <a:xfrm>
            <a:off x="10339703" y="1756715"/>
            <a:ext cx="898596" cy="6826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10621E7-9695-960A-599C-2CCAC2C5AB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5" b="11950"/>
          <a:stretch>
            <a:fillRect/>
          </a:stretch>
        </p:blipFill>
        <p:spPr>
          <a:xfrm>
            <a:off x="10339703" y="3416295"/>
            <a:ext cx="898596" cy="6826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F51CD19-DD89-3DFB-7212-68485A5B4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5" b="11950"/>
          <a:stretch>
            <a:fillRect/>
          </a:stretch>
        </p:blipFill>
        <p:spPr>
          <a:xfrm>
            <a:off x="8605246" y="3416295"/>
            <a:ext cx="898596" cy="682625"/>
          </a:xfrm>
          <a:prstGeom prst="rect">
            <a:avLst/>
          </a:prstGeom>
        </p:spPr>
      </p:pic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0F09E400-D2DD-02F1-1B1C-2A8947F52B22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9503842" y="2098027"/>
            <a:ext cx="835861" cy="1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00876E75-77EC-74F5-4537-7E8160C56EE8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10789001" y="2439340"/>
            <a:ext cx="0" cy="976955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501BC969-318F-A33C-A5A9-E2C540DBF4CF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flipH="1">
            <a:off x="9503842" y="3757608"/>
            <a:ext cx="835861" cy="0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C017ED55-22C6-9DCC-78DD-B721C87F0D48}"/>
              </a:ext>
            </a:extLst>
          </p:cNvPr>
          <p:cNvCxnSpPr>
            <a:stCxn id="17" idx="0"/>
            <a:endCxn id="14" idx="2"/>
          </p:cNvCxnSpPr>
          <p:nvPr/>
        </p:nvCxnSpPr>
        <p:spPr>
          <a:xfrm flipV="1">
            <a:off x="9054544" y="2439339"/>
            <a:ext cx="0" cy="976956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58399AF-41E7-2981-891A-3674A2C0918B}"/>
              </a:ext>
            </a:extLst>
          </p:cNvPr>
          <p:cNvCxnSpPr>
            <a:cxnSpLocks/>
          </p:cNvCxnSpPr>
          <p:nvPr/>
        </p:nvCxnSpPr>
        <p:spPr>
          <a:xfrm>
            <a:off x="9503842" y="1967401"/>
            <a:ext cx="835861" cy="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2BF3BA2-1218-AA57-0086-8D6695CA9964}"/>
              </a:ext>
            </a:extLst>
          </p:cNvPr>
          <p:cNvCxnSpPr>
            <a:cxnSpLocks/>
          </p:cNvCxnSpPr>
          <p:nvPr/>
        </p:nvCxnSpPr>
        <p:spPr>
          <a:xfrm flipH="1" flipV="1">
            <a:off x="9503842" y="2243167"/>
            <a:ext cx="835861" cy="1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曲线连接符 44">
            <a:extLst>
              <a:ext uri="{FF2B5EF4-FFF2-40B4-BE49-F238E27FC236}">
                <a16:creationId xmlns:a16="http://schemas.microsoft.com/office/drawing/2014/main" id="{7D632072-4C58-6C2B-F8FA-D03A36C005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61225" y="2388307"/>
            <a:ext cx="1185535" cy="1027988"/>
          </a:xfrm>
          <a:prstGeom prst="curvedConnector2">
            <a:avLst/>
          </a:prstGeom>
          <a:ln w="19050" cap="flat" cmpd="sng" algn="ctr">
            <a:solidFill>
              <a:srgbClr val="FFC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AE9789FA-0422-6121-6A3D-27EBAC84B760}"/>
              </a:ext>
            </a:extLst>
          </p:cNvPr>
          <p:cNvCxnSpPr>
            <a:cxnSpLocks/>
          </p:cNvCxnSpPr>
          <p:nvPr/>
        </p:nvCxnSpPr>
        <p:spPr>
          <a:xfrm>
            <a:off x="10941401" y="2439340"/>
            <a:ext cx="0" cy="976955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3E7E83A4-6E04-5FCD-43D7-DCC2DC453639}"/>
              </a:ext>
            </a:extLst>
          </p:cNvPr>
          <p:cNvSpPr txBox="1"/>
          <p:nvPr/>
        </p:nvSpPr>
        <p:spPr>
          <a:xfrm>
            <a:off x="9777341" y="162884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00B0F0"/>
                </a:solidFill>
              </a:rPr>
              <a:t>1</a:t>
            </a:r>
            <a:endParaRPr kumimoji="1" lang="zh-CN" altLang="en-US" sz="1600" b="1" dirty="0">
              <a:solidFill>
                <a:srgbClr val="00B0F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C03638E-4C76-CAA6-FC62-BF3D6CE8B6C7}"/>
              </a:ext>
            </a:extLst>
          </p:cNvPr>
          <p:cNvSpPr txBox="1"/>
          <p:nvPr/>
        </p:nvSpPr>
        <p:spPr>
          <a:xfrm>
            <a:off x="10508109" y="273302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600" b="1" dirty="0">
                <a:solidFill>
                  <a:srgbClr val="00B050"/>
                </a:solidFill>
              </a:rPr>
              <a:t>3</a:t>
            </a:r>
            <a:endParaRPr kumimoji="1" lang="zh-CN" altLang="en-US" sz="1600" b="1" dirty="0">
              <a:solidFill>
                <a:srgbClr val="00B05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51CAB9B-73DA-66B6-E99E-0D339C968C5D}"/>
              </a:ext>
            </a:extLst>
          </p:cNvPr>
          <p:cNvSpPr txBox="1"/>
          <p:nvPr/>
        </p:nvSpPr>
        <p:spPr>
          <a:xfrm>
            <a:off x="10942381" y="273302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FFC000"/>
                </a:solidFill>
              </a:rPr>
              <a:t>2</a:t>
            </a:r>
            <a:endParaRPr kumimoji="1" lang="zh-CN" altLang="en-US" sz="1600" b="1" dirty="0">
              <a:solidFill>
                <a:srgbClr val="FFC000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FD291FC-4C9F-FEFC-4A72-42B42D31F0D7}"/>
              </a:ext>
            </a:extLst>
          </p:cNvPr>
          <p:cNvSpPr txBox="1"/>
          <p:nvPr/>
        </p:nvSpPr>
        <p:spPr>
          <a:xfrm>
            <a:off x="8605246" y="4440233"/>
            <a:ext cx="286405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zh-CN" sz="1600" i="1" dirty="0"/>
              <a:t>Adjustment steps:</a:t>
            </a:r>
          </a:p>
          <a:p>
            <a:pPr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B0F0"/>
                </a:solidFill>
              </a:rPr>
              <a:t>1.</a:t>
            </a:r>
            <a:r>
              <a:rPr kumimoji="1" lang="zh-CN" altLang="en-US" sz="1600" dirty="0"/>
              <a:t> </a:t>
            </a:r>
            <a:r>
              <a:rPr kumimoji="1" lang="en-US" altLang="zh-CN" sz="1600" i="1" dirty="0"/>
              <a:t>Metadata-driven initialization</a:t>
            </a:r>
          </a:p>
          <a:p>
            <a:pPr>
              <a:spcAft>
                <a:spcPts val="600"/>
              </a:spcAft>
            </a:pPr>
            <a:r>
              <a:rPr kumimoji="1" lang="en-US" altLang="zh-CN" sz="1600" i="1" dirty="0">
                <a:solidFill>
                  <a:schemeClr val="bg1"/>
                </a:solidFill>
              </a:rPr>
              <a:t>1. </a:t>
            </a:r>
            <a:r>
              <a:rPr kumimoji="1" lang="en-US" altLang="zh-CN" sz="1600" i="1" dirty="0"/>
              <a:t>(for newly added ranks)</a:t>
            </a:r>
          </a:p>
          <a:p>
            <a:pPr>
              <a:spcAft>
                <a:spcPts val="600"/>
              </a:spcAft>
            </a:pPr>
            <a:r>
              <a:rPr kumimoji="1" lang="en-US" altLang="zh-CN" sz="1600" dirty="0">
                <a:solidFill>
                  <a:srgbClr val="FFC000"/>
                </a:solidFill>
              </a:rPr>
              <a:t>2.</a:t>
            </a:r>
            <a:r>
              <a:rPr kumimoji="1" lang="zh-CN" altLang="en-US" sz="1600" dirty="0"/>
              <a:t> </a:t>
            </a:r>
            <a:r>
              <a:rPr kumimoji="1" lang="en-US" altLang="zh-CN" sz="1600" i="1" dirty="0"/>
              <a:t>Global metadata update</a:t>
            </a:r>
          </a:p>
          <a:p>
            <a:pPr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B050"/>
                </a:solidFill>
              </a:rPr>
              <a:t>3.</a:t>
            </a:r>
            <a:r>
              <a:rPr kumimoji="1" lang="zh-CN" altLang="en-US" sz="1600" dirty="0"/>
              <a:t> </a:t>
            </a:r>
            <a:r>
              <a:rPr kumimoji="1" lang="en-US" altLang="zh-CN" sz="1600" i="1" dirty="0"/>
              <a:t>Channel build</a:t>
            </a:r>
            <a:endParaRPr kumimoji="1" lang="zh-CN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62661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  <p:bldP spid="52" grpId="0"/>
      <p:bldP spid="52" grpId="1"/>
      <p:bldP spid="53" grpId="0"/>
      <p:bldP spid="5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0DEEE-4CFE-9F3E-BFC5-735128A0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Implementation &amp; Evaluation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C451D-229F-8E20-D248-6A441AFB9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8108"/>
            <a:ext cx="6432031" cy="4748855"/>
          </a:xfrm>
        </p:spPr>
        <p:txBody>
          <a:bodyPr anchor="t"/>
          <a:lstStyle/>
          <a:p>
            <a:r>
              <a:rPr kumimoji="1" lang="en" altLang="zh-CN" dirty="0"/>
              <a:t>Implementation:</a:t>
            </a:r>
          </a:p>
          <a:p>
            <a:pPr lvl="1"/>
            <a:r>
              <a:rPr kumimoji="1" lang="en" altLang="zh-CN" dirty="0"/>
              <a:t>Over</a:t>
            </a:r>
            <a:r>
              <a:rPr kumimoji="1" lang="zh-CN" altLang="en-US" dirty="0"/>
              <a:t> </a:t>
            </a:r>
            <a:r>
              <a:rPr kumimoji="1" lang="en" altLang="zh-CN" b="1" dirty="0">
                <a:solidFill>
                  <a:schemeClr val="accent5"/>
                </a:solidFill>
              </a:rPr>
              <a:t>17,000 lines </a:t>
            </a:r>
            <a:r>
              <a:rPr kumimoji="1" lang="en" altLang="zh-CN" dirty="0"/>
              <a:t>of C++ 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 </a:t>
            </a:r>
            <a:r>
              <a:rPr kumimoji="1" lang="en-US" altLang="zh-CN" b="1" dirty="0">
                <a:solidFill>
                  <a:schemeClr val="accent5"/>
                </a:solidFill>
              </a:rPr>
              <a:t>device proxy.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Over </a:t>
            </a:r>
            <a:r>
              <a:rPr kumimoji="1" lang="en-US" altLang="zh-CN" b="1" dirty="0">
                <a:solidFill>
                  <a:schemeClr val="accent5"/>
                </a:solidFill>
              </a:rPr>
              <a:t>1,700 lines </a:t>
            </a:r>
            <a:r>
              <a:rPr kumimoji="1" lang="en" altLang="zh-CN" dirty="0"/>
              <a:t>of C++ 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 </a:t>
            </a:r>
            <a:r>
              <a:rPr kumimoji="1" lang="en-US" altLang="zh-CN" b="1" dirty="0">
                <a:solidFill>
                  <a:schemeClr val="accent5"/>
                </a:solidFill>
              </a:rPr>
              <a:t>flexible CCL </a:t>
            </a:r>
            <a:r>
              <a:rPr kumimoji="1" lang="en-US" altLang="zh-CN" dirty="0"/>
              <a:t>(based on NCCL 2.23).</a:t>
            </a:r>
          </a:p>
          <a:p>
            <a:pPr lvl="1"/>
            <a:r>
              <a:rPr kumimoji="1" lang="en-US" altLang="zh-CN" b="1" dirty="0">
                <a:solidFill>
                  <a:schemeClr val="accent5"/>
                </a:solidFill>
              </a:rPr>
              <a:t>Open source </a:t>
            </a:r>
            <a:r>
              <a:rPr kumimoji="1" lang="en-US" altLang="zh-CN" dirty="0"/>
              <a:t>at GitHub [1].</a:t>
            </a:r>
          </a:p>
          <a:p>
            <a:r>
              <a:rPr kumimoji="1" lang="en-US" altLang="zh-CN" dirty="0"/>
              <a:t>Evaluation:</a:t>
            </a:r>
          </a:p>
          <a:p>
            <a:pPr lvl="1"/>
            <a:r>
              <a:rPr kumimoji="1" lang="en" altLang="zh-CN" dirty="0"/>
              <a:t>Reduce </a:t>
            </a:r>
            <a:r>
              <a:rPr kumimoji="1" lang="en" altLang="zh-CN" b="1" dirty="0">
                <a:solidFill>
                  <a:schemeClr val="accent5"/>
                </a:solidFill>
              </a:rPr>
              <a:t>daily overhead </a:t>
            </a:r>
            <a:r>
              <a:rPr kumimoji="1" lang="en" altLang="zh-CN" dirty="0"/>
              <a:t>by </a:t>
            </a:r>
            <a:r>
              <a:rPr kumimoji="1" lang="en" altLang="zh-CN" b="1" dirty="0">
                <a:solidFill>
                  <a:schemeClr val="accent5"/>
                </a:solidFill>
              </a:rPr>
              <a:t>up to </a:t>
            </a:r>
            <a:r>
              <a:rPr kumimoji="1" lang="en" altLang="zh-CN" b="1" dirty="0">
                <a:solidFill>
                  <a:schemeClr val="accent2"/>
                </a:solidFill>
              </a:rPr>
              <a:t>58.8%</a:t>
            </a:r>
            <a:r>
              <a:rPr kumimoji="1" lang="en" altLang="zh-CN" b="1" dirty="0">
                <a:solidFill>
                  <a:schemeClr val="accent5"/>
                </a:solidFill>
              </a:rPr>
              <a:t> </a:t>
            </a:r>
            <a:r>
              <a:rPr kumimoji="1" lang="en" altLang="zh-CN" dirty="0"/>
              <a:t>(compared with Microsoft’s Singularity [2]).</a:t>
            </a:r>
          </a:p>
          <a:p>
            <a:pPr lvl="1"/>
            <a:r>
              <a:rPr kumimoji="1" lang="en" altLang="zh-CN" dirty="0"/>
              <a:t>Reduce </a:t>
            </a:r>
            <a:r>
              <a:rPr kumimoji="1" lang="en" altLang="zh-CN" b="1" dirty="0">
                <a:solidFill>
                  <a:schemeClr val="accent5"/>
                </a:solidFill>
              </a:rPr>
              <a:t>communication rebuilding time </a:t>
            </a:r>
            <a:r>
              <a:rPr kumimoji="1" lang="en" altLang="zh-CN" dirty="0"/>
              <a:t>by </a:t>
            </a:r>
            <a:r>
              <a:rPr kumimoji="1" lang="en" altLang="zh-CN" b="1" dirty="0">
                <a:solidFill>
                  <a:schemeClr val="accent5"/>
                </a:solidFill>
              </a:rPr>
              <a:t>up to </a:t>
            </a:r>
            <a:r>
              <a:rPr kumimoji="1" lang="en" altLang="zh-CN" b="1" dirty="0">
                <a:solidFill>
                  <a:schemeClr val="accent2"/>
                </a:solidFill>
              </a:rPr>
              <a:t>91.3%</a:t>
            </a:r>
            <a:r>
              <a:rPr kumimoji="1" lang="en" altLang="zh-CN" b="1" dirty="0">
                <a:solidFill>
                  <a:schemeClr val="accent5"/>
                </a:solidFill>
              </a:rPr>
              <a:t> </a:t>
            </a:r>
            <a:r>
              <a:rPr kumimoji="1" lang="en" altLang="zh-CN" dirty="0"/>
              <a:t>(compared with native NCCL).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075609-902A-B87D-D766-ECE4E5F3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7CB84A4-1B56-4A2C-0F62-1F9A30BEC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688" y="3790309"/>
            <a:ext cx="3240000" cy="222238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B7A78D2-DABE-FCEB-90CD-B4A6997DA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688" y="1263722"/>
            <a:ext cx="3240000" cy="217559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619D859-27A8-4DB3-9F17-1E9A5D764AF4}"/>
              </a:ext>
            </a:extLst>
          </p:cNvPr>
          <p:cNvSpPr txBox="1"/>
          <p:nvPr/>
        </p:nvSpPr>
        <p:spPr>
          <a:xfrm>
            <a:off x="7715688" y="5784076"/>
            <a:ext cx="3638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accent5"/>
                </a:solidFill>
              </a:rPr>
              <a:t>Figure b: </a:t>
            </a:r>
            <a:r>
              <a:rPr kumimoji="1" lang="en-US" altLang="zh-CN" sz="1600" dirty="0"/>
              <a:t>Communication rebuilding time.</a:t>
            </a:r>
            <a:endParaRPr kumimoji="1"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0C9272-F533-3ED1-546B-5DFBF04844EC}"/>
              </a:ext>
            </a:extLst>
          </p:cNvPr>
          <p:cNvSpPr txBox="1"/>
          <p:nvPr/>
        </p:nvSpPr>
        <p:spPr>
          <a:xfrm>
            <a:off x="7715688" y="3354622"/>
            <a:ext cx="2840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accent5"/>
                </a:solidFill>
              </a:rPr>
              <a:t>Figure a: </a:t>
            </a:r>
            <a:r>
              <a:rPr kumimoji="1" lang="en-US" altLang="zh-CN" sz="1600" dirty="0"/>
              <a:t>Training iteration time.</a:t>
            </a:r>
            <a:endParaRPr kumimoji="1" lang="zh-CN" altLang="en-US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88307F-6C3C-365C-B83B-CA716B07C756}"/>
              </a:ext>
            </a:extLst>
          </p:cNvPr>
          <p:cNvSpPr txBox="1"/>
          <p:nvPr/>
        </p:nvSpPr>
        <p:spPr>
          <a:xfrm>
            <a:off x="838200" y="6334779"/>
            <a:ext cx="10515600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[1] Xia J et al. 2025. Mnemosyne. </a:t>
            </a:r>
            <a:r>
              <a:rPr lang="en-US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https://</a:t>
            </a:r>
            <a:r>
              <a:rPr lang="en-US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github.com</a:t>
            </a:r>
            <a:r>
              <a:rPr lang="en-US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/Networked-System-and-Security-Group/Mnemosyne</a:t>
            </a:r>
            <a:endParaRPr lang="en" altLang="zh-CN" sz="14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[2] Shukla D et al. Singularity: Planet-scale, preemptive and elastic scheduling of AI workloads. </a:t>
            </a:r>
            <a:r>
              <a:rPr lang="en" altLang="zh-CN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arXiv</a:t>
            </a:r>
            <a:r>
              <a:rPr lang="en" altLang="zh-CN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preprint arXiv:2202.07848, 2022.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93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589E1-E16E-92C8-6786-5F71C83E6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Conclusion &amp; Future Work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3B9E42-25F4-2B12-B157-E8D69A650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Errors are frequent and costly in LLM training.</a:t>
            </a:r>
          </a:p>
          <a:p>
            <a:pPr lvl="1"/>
            <a:r>
              <a:rPr kumimoji="1" lang="en-US" altLang="zh-CN" b="1" dirty="0">
                <a:solidFill>
                  <a:schemeClr val="accent5"/>
                </a:solidFill>
              </a:rPr>
              <a:t>Periodic checkpointing </a:t>
            </a:r>
            <a:r>
              <a:rPr kumimoji="1" lang="en-US" altLang="zh-CN" dirty="0"/>
              <a:t>lacks efficiency in both steady state and recovery.</a:t>
            </a:r>
          </a:p>
          <a:p>
            <a:pPr lvl="1"/>
            <a:r>
              <a:rPr kumimoji="1" lang="en-US" altLang="zh-CN" dirty="0"/>
              <a:t>Microsoft’s </a:t>
            </a:r>
            <a:r>
              <a:rPr kumimoji="1" lang="en-US" altLang="zh-CN" b="1" dirty="0">
                <a:solidFill>
                  <a:schemeClr val="accent5"/>
                </a:solidFill>
              </a:rPr>
              <a:t>just-in-time checkpointing </a:t>
            </a:r>
            <a:r>
              <a:rPr kumimoji="1" lang="en-US" altLang="zh-CN" dirty="0"/>
              <a:t>has excessive daily overhead and NCCL object recreation time.</a:t>
            </a:r>
          </a:p>
          <a:p>
            <a:r>
              <a:rPr kumimoji="1" lang="en-US" altLang="zh-CN" b="1" cap="small" dirty="0">
                <a:solidFill>
                  <a:schemeClr val="accent5"/>
                </a:solidFill>
                <a:latin typeface="+mj-lt"/>
              </a:rPr>
              <a:t>Mnemosyne</a:t>
            </a:r>
            <a:r>
              <a:rPr kumimoji="1" lang="en-US" altLang="zh-CN" dirty="0"/>
              <a:t> provides a lightweight and fast error recovery solution.</a:t>
            </a:r>
          </a:p>
          <a:p>
            <a:pPr lvl="1"/>
            <a:r>
              <a:rPr kumimoji="1" lang="en-US" altLang="zh-CN" b="1" dirty="0">
                <a:solidFill>
                  <a:schemeClr val="accent5"/>
                </a:solidFill>
              </a:rPr>
              <a:t>Device proxy </a:t>
            </a:r>
            <a:r>
              <a:rPr kumimoji="1" lang="en-US" altLang="zh-CN" dirty="0"/>
              <a:t>decouples GPU context in a lightweight and efficient way.</a:t>
            </a:r>
          </a:p>
          <a:p>
            <a:pPr lvl="1"/>
            <a:r>
              <a:rPr kumimoji="1" lang="en-US" altLang="zh-CN" b="1" dirty="0">
                <a:solidFill>
                  <a:schemeClr val="accent5"/>
                </a:solidFill>
              </a:rPr>
              <a:t>Flexible CCL </a:t>
            </a:r>
            <a:r>
              <a:rPr kumimoji="1" lang="en-US" altLang="zh-CN" dirty="0"/>
              <a:t>supports runtime NCCL communication member adjustment.</a:t>
            </a:r>
          </a:p>
          <a:p>
            <a:pPr lvl="1"/>
            <a:r>
              <a:rPr kumimoji="1" lang="en-US" altLang="zh-CN" dirty="0"/>
              <a:t>Experiments show our design’s efficiency.</a:t>
            </a:r>
          </a:p>
          <a:p>
            <a:r>
              <a:rPr kumimoji="1" lang="en-US" altLang="zh-CN" dirty="0"/>
              <a:t>Our work can be adapted for other scenarios like </a:t>
            </a:r>
            <a:r>
              <a:rPr kumimoji="1" lang="en-US" altLang="zh-CN" b="1" dirty="0">
                <a:solidFill>
                  <a:schemeClr val="accent5"/>
                </a:solidFill>
              </a:rPr>
              <a:t>elasticity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Future work can be done in </a:t>
            </a:r>
            <a:r>
              <a:rPr kumimoji="1" lang="en-US" altLang="zh-CN" b="1" dirty="0">
                <a:solidFill>
                  <a:schemeClr val="accent5"/>
                </a:solidFill>
              </a:rPr>
              <a:t>migration strategies</a:t>
            </a:r>
            <a:r>
              <a:rPr kumimoji="1" lang="en-US" altLang="zh-CN" dirty="0"/>
              <a:t>, </a:t>
            </a:r>
            <a:r>
              <a:rPr kumimoji="1" lang="en-US" altLang="zh-CN" b="1" dirty="0">
                <a:solidFill>
                  <a:schemeClr val="accent5"/>
                </a:solidFill>
              </a:rPr>
              <a:t>error location 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151A6-99D8-8235-34D6-4D8D50CA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BDF6-B4ED-FD4B-B3D3-9E472235FBBA}" type="slidenum">
              <a:rPr kumimoji="1" lang="zh-CN" altLang="en-US" smtClean="0"/>
              <a:pPr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7816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8724-C920-7716-3F1A-764B0E68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99C51-E82F-B561-BCC8-AF6F4FAC0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7765"/>
            <a:ext cx="9144000" cy="2387600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kumimoji="1" lang="en" altLang="zh-CN" sz="4400" dirty="0">
                <a:solidFill>
                  <a:schemeClr val="tx1"/>
                </a:solidFill>
              </a:rPr>
              <a:t>Thank You!</a:t>
            </a:r>
            <a:br>
              <a:rPr kumimoji="1" lang="en" altLang="zh-CN" sz="2800" cap="small" dirty="0"/>
            </a:br>
            <a:r>
              <a:rPr kumimoji="1" lang="en" altLang="zh-CN" sz="2000" cap="small" dirty="0"/>
              <a:t> </a:t>
            </a:r>
            <a:br>
              <a:rPr kumimoji="1" lang="en" altLang="zh-CN" sz="2800" cap="small" dirty="0"/>
            </a:br>
            <a:r>
              <a:rPr kumimoji="1" lang="en" altLang="zh-CN" sz="3200" cap="small" dirty="0"/>
              <a:t>Mnemosyne</a:t>
            </a:r>
            <a:r>
              <a:rPr kumimoji="1" lang="en" altLang="zh-CN" sz="3200" dirty="0"/>
              <a:t>: </a:t>
            </a:r>
            <a:r>
              <a:rPr kumimoji="1" lang="en" altLang="zh-CN" sz="3200" dirty="0">
                <a:solidFill>
                  <a:schemeClr val="tx1"/>
                </a:solidFill>
              </a:rPr>
              <a:t>Lightweight and Fast Error Recovery for LLM Training in a Just-In-Time Manner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AD2221-DB13-030D-9C71-127A92ED9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486" y="3147948"/>
            <a:ext cx="9427028" cy="2133599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kumimoji="1" lang="en" altLang="zh-CN" dirty="0"/>
              <a:t>Open source:</a:t>
            </a:r>
            <a:br>
              <a:rPr kumimoji="1" lang="en" altLang="zh-CN" dirty="0"/>
            </a:br>
            <a:r>
              <a:rPr kumimoji="1" lang="en" altLang="zh-CN" dirty="0">
                <a:hlinkClick r:id="rId3"/>
              </a:rPr>
              <a:t>https://github.com/Networked-System-and-Security-Group/Mnemosyne</a:t>
            </a:r>
            <a:endParaRPr kumimoji="1" lang="en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CCFB17-5BA9-00CD-8B53-D5B4EDD1DB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943" t="26132" r="12846" b="19553"/>
          <a:stretch>
            <a:fillRect/>
          </a:stretch>
        </p:blipFill>
        <p:spPr>
          <a:xfrm>
            <a:off x="3030279" y="4326895"/>
            <a:ext cx="1646605" cy="164660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72E27BB-B95A-F9E6-25F9-17FE4B570DB3}"/>
              </a:ext>
            </a:extLst>
          </p:cNvPr>
          <p:cNvSpPr txBox="1"/>
          <p:nvPr/>
        </p:nvSpPr>
        <p:spPr>
          <a:xfrm>
            <a:off x="5203370" y="4326895"/>
            <a:ext cx="5464629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Contact me: </a:t>
            </a:r>
          </a:p>
          <a:p>
            <a:pPr>
              <a:spcAft>
                <a:spcPts val="600"/>
              </a:spcAft>
            </a:pPr>
            <a:r>
              <a:rPr kumimoji="1" lang="e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Jinyi Xia </a:t>
            </a:r>
            <a:r>
              <a:rPr kumimoji="1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(he/him)</a:t>
            </a:r>
            <a:br>
              <a:rPr kumimoji="1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r>
              <a:rPr kumimoji="1" lang="en" altLang="zh-CN" sz="2400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Ph.D. Student, </a:t>
            </a:r>
            <a:r>
              <a:rPr kumimoji="1" lang="en" altLang="zh-CN" sz="2400" dirty="0" err="1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Beihang</a:t>
            </a:r>
            <a:r>
              <a:rPr kumimoji="1" lang="en" altLang="zh-CN" sz="2400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 University</a:t>
            </a:r>
            <a:br>
              <a:rPr kumimoji="1" lang="en" altLang="zh-CN" sz="2400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kumimoji="1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hlinkClick r:id="rId5"/>
              </a:rPr>
              <a:t>jinyi.xia@outlook.com</a:t>
            </a:r>
            <a:endParaRPr kumimoji="1" lang="e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6830379-46C1-5EE7-F4AF-9B013550D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621" y="4957284"/>
            <a:ext cx="1719582" cy="155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751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bua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5BAD"/>
      </a:accent5>
      <a:accent6>
        <a:srgbClr val="70AD47"/>
      </a:accent6>
      <a:hlink>
        <a:srgbClr val="005BAD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4682</TotalTime>
  <Words>965</Words>
  <Application>Microsoft Macintosh PowerPoint</Application>
  <PresentationFormat>宽屏</PresentationFormat>
  <Paragraphs>115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Arial</vt:lpstr>
      <vt:lpstr>Calibri</vt:lpstr>
      <vt:lpstr>Office 2013 - 2022 主题</vt:lpstr>
      <vt:lpstr>Mnemosyne: Lightweight and Fast Error Recovery for LLM Training in a Just-In-Time Manner</vt:lpstr>
      <vt:lpstr>Large Language Models (LLMs) Grow Rapidly</vt:lpstr>
      <vt:lpstr>Costly Errors vs. Inefficient Recovery</vt:lpstr>
      <vt:lpstr>New Solution: Just-In-Time Checkpointing [1]</vt:lpstr>
      <vt:lpstr>Our Solution: Mnemosyne</vt:lpstr>
      <vt:lpstr>Workflow #1: Steady-State Work</vt:lpstr>
      <vt:lpstr>Key Component #1: Device Proxy</vt:lpstr>
      <vt:lpstr>Workflow #2: Recovery</vt:lpstr>
      <vt:lpstr>Key Component #2: Flexible CCL</vt:lpstr>
      <vt:lpstr>Implementation &amp; Evaluation</vt:lpstr>
      <vt:lpstr>Conclusion &amp; Future Work</vt:lpstr>
      <vt:lpstr>Thank You!   Mnemosyne: Lightweight and Fast Error Recovery for LLM Training in a Just-In-Time Manner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Jinyi Xia</dc:creator>
  <cp:lastModifiedBy>Jinyi Xia</cp:lastModifiedBy>
  <cp:revision>137</cp:revision>
  <dcterms:created xsi:type="dcterms:W3CDTF">2025-07-18T15:40:26Z</dcterms:created>
  <dcterms:modified xsi:type="dcterms:W3CDTF">2025-08-07T07:21:04Z</dcterms:modified>
</cp:coreProperties>
</file>